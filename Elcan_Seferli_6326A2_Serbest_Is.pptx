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40AF"/>
                </a:solidFill>
                <a:latin typeface="Calibri"/>
              </a:defRPr>
            </a:pPr>
            <a:r>
              <a:t>Azərbaycan Texniki Universiteti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600200"/>
            <a:ext cx="3200400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9875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E293B"/>
                </a:solidFill>
                <a:latin typeface="Calibri"/>
              </a:defRPr>
            </a:pPr>
            <a:r>
              <a:t>Elektron sənəd dövriyyəsinin tətbiqi, bu növ sənədlərin hazırlanması və icra qaydaları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663440"/>
            <a:ext cx="5486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E293B"/>
                </a:solidFill>
                <a:latin typeface="Calibri"/>
              </a:defRPr>
            </a:pPr>
            <a:r>
              <a:t>Tələbə: Səfərli Elcan</a:t>
            </a:r>
          </a:p>
          <a:p>
            <a:pPr>
              <a:defRPr sz="1900">
                <a:solidFill>
                  <a:srgbClr val="64748B"/>
                </a:solidFill>
                <a:latin typeface="Calibri"/>
              </a:defRPr>
            </a:pPr>
            <a:r>
              <a:t>Qrup: 6326A2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03504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Bakı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109728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530352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Calibri"/>
              </a:defRPr>
            </a:pPr>
            <a:r>
              <a:t>Elektron sənəd və elektron sənəd dövriyyəsi nədir?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>
                <a:solidFill>
                  <a:srgbClr val="64748B"/>
                </a:solidFill>
                <a:latin typeface="Calibri"/>
              </a:defRPr>
            </a:pPr>
            <a:r>
              <a:t>Müasir dövrdə idarə və təşkilatlarda kağız sənədlərin yerini sürətlə elektron sənədlər tutur.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84831"/>
            <a:ext cx="6263640" cy="422452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8064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750">
                <a:solidFill>
                  <a:srgbClr val="1E293B"/>
                </a:solidFill>
                <a:latin typeface="Calibri"/>
              </a:defRPr>
            </a:pPr>
            <a:r>
              <a:t>•  Elektron sənəd — kompüter və informasiya sistemlərində yaradılan, saxlanılan və elektron imza ilə təsdiqlənən rəsmi sənəddir.</a:t>
            </a:r>
          </a:p>
          <a:p>
            <a:pPr>
              <a:spcAft>
                <a:spcPts val="1300"/>
              </a:spcAft>
              <a:defRPr sz="1750">
                <a:solidFill>
                  <a:srgbClr val="1E293B"/>
                </a:solidFill>
                <a:latin typeface="Calibri"/>
              </a:defRPr>
            </a:pPr>
            <a:r>
              <a:t>•  Elektron sənəd dövriyyəsi (ESD) — sənədlərin hazırlanması, göndərilməsi, qəbul edilməsi və arxivləşdirilməsi prosesinin rəqəmsal şəbəkə üzərindən aparılmasıdır.</a:t>
            </a:r>
          </a:p>
          <a:p>
            <a:pPr>
              <a:spcAft>
                <a:spcPts val="1300"/>
              </a:spcAft>
              <a:defRPr sz="1750">
                <a:solidFill>
                  <a:srgbClr val="1E293B"/>
                </a:solidFill>
                <a:latin typeface="Calibri"/>
              </a:defRPr>
            </a:pPr>
            <a:r>
              <a:t>•  Qanunvericiliyə görə elektron imza ilə təsdiqlənmiş sənəd adi kağız sənədlə eyni hüquqi qüvvəyə malikdir.</a:t>
            </a:r>
          </a:p>
          <a:p>
            <a:pPr>
              <a:spcAft>
                <a:spcPts val="1300"/>
              </a:spcAft>
              <a:defRPr sz="1750">
                <a:solidFill>
                  <a:srgbClr val="1E293B"/>
                </a:solidFill>
                <a:latin typeface="Calibri"/>
              </a:defRPr>
            </a:pPr>
            <a:r>
              <a:t>•  Əsas məqsədi idarəetməni sürətləndirmək, bürokratiyanı və kağız sərfiyyatını azaltmaqdır.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2084831"/>
            <a:ext cx="4206240" cy="422452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2_elektron_sened_17908027214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240280"/>
            <a:ext cx="3931920" cy="29358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532180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64748B"/>
                </a:solidFill>
                <a:latin typeface="Calibri"/>
              </a:defRPr>
            </a:pPr>
            <a:r>
              <a:t>Rəqəmsal və kağız sənədlərin müqayisəsi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109728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530352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Calibri"/>
              </a:defRPr>
            </a:pPr>
            <a:r>
              <a:t>Elektron sənəd dövriyyəsinin əsas üstünlükləri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>
                <a:solidFill>
                  <a:srgbClr val="64748B"/>
                </a:solidFill>
                <a:latin typeface="Calibri"/>
              </a:defRPr>
            </a:pPr>
            <a:r>
              <a:t>Ənənəvi kağız kargüzarlığı ilə müqayisədə elektron dövriyyə təşkilatlara böyük üstünlüklər verir: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84831"/>
            <a:ext cx="10698480" cy="422452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101498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Vaxta qənaət — sənədlər poçt və ya kuryer gözləmədən bir neçə saniyə ərzində ünvana çatır.</a:t>
            </a:r>
          </a:p>
          <a:p>
            <a:pPr>
              <a:spcAft>
                <a:spcPts val="13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Təhlükəsizlik — sənədlərin itməsi, zədələnməsi və ya icazəsiz dəyişdirilməsi riski aradan qalxır.</a:t>
            </a:r>
          </a:p>
          <a:p>
            <a:pPr>
              <a:spcAft>
                <a:spcPts val="13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Sürətli axtarış — istənilən sənədi tarixinə, nömrəsinə və ya mövzusuna görə saniyələr içində tapmaq olur.</a:t>
            </a:r>
          </a:p>
          <a:p>
            <a:pPr>
              <a:spcAft>
                <a:spcPts val="13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İcraya nəzarət — sənədin hazırda kimdə olduğu və nə vaxt cavablandırılacağı sistemdə görünür.</a:t>
            </a:r>
          </a:p>
          <a:p>
            <a:pPr>
              <a:spcAft>
                <a:spcPts val="13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Maliyyə və kağız qənaəti — çap, kağız, qovluq və arxiv yeri xərcləri minimuma enir.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109728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530352"/>
            <a:ext cx="10424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Calibri"/>
              </a:defRPr>
            </a:pPr>
            <a:r>
              <a:t>Elektron dövriyyədə istifadə olunan sənəd növləri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66360" cy="470916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E40AF"/>
                </a:solidFill>
                <a:latin typeface="Calibri"/>
              </a:defRPr>
            </a:pPr>
            <a:r>
              <a:t>Təşkilati və İnzibati sənədlər</a:t>
            </a:r>
          </a:p>
          <a:p>
            <a:pPr>
              <a:spcAft>
                <a:spcPts val="12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Plan və Nizamnamə — təşkilatın iş qaydasını müəyyən edir.</a:t>
            </a:r>
          </a:p>
          <a:p>
            <a:pPr>
              <a:spcAft>
                <a:spcPts val="12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Müqavilələr — təchizat, xidmət, icarə və alqı-satqı müqavilələri.</a:t>
            </a:r>
          </a:p>
          <a:p>
            <a:pPr>
              <a:spcAft>
                <a:spcPts val="12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Qərar — kollegial müzakirədən sonra qəbul edilən sənəd.</a:t>
            </a:r>
          </a:p>
          <a:p>
            <a:pPr>
              <a:spcAft>
                <a:spcPts val="12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Sərəncam və Göstəriş — rəhbər şəxs tərəfindən konkret məsələnin həlli üçün verilən tapşırıq.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166360" cy="470916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E40AF"/>
                </a:solidFill>
                <a:latin typeface="Calibri"/>
              </a:defRPr>
            </a:pPr>
            <a:r>
              <a:t>Məlumat-arayış və Yazışma sənədləri</a:t>
            </a:r>
          </a:p>
          <a:p>
            <a:pPr>
              <a:spcAft>
                <a:spcPts val="12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Arayış və Akt — hər hansı faktı və ya hadisəni təsdiq edən sənədlər.</a:t>
            </a:r>
          </a:p>
          <a:p>
            <a:pPr>
              <a:spcAft>
                <a:spcPts val="12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Xidməti qeyd — şöbələr arasında daxili əlaqəni təmin edən sənəd.</a:t>
            </a:r>
          </a:p>
          <a:p>
            <a:pPr>
              <a:spcAft>
                <a:spcPts val="12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Hesabat və Analitik qeyd — görülmüş işlər barədə rəhbərliyə məlumat.</a:t>
            </a:r>
          </a:p>
          <a:p>
            <a:pPr>
              <a:spcAft>
                <a:spcPts val="12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Rəsmi elektron məktublar — sorğu, təklif, dəvət və cavab məktubları.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109728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530352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Calibri"/>
              </a:defRPr>
            </a:pPr>
            <a:r>
              <a:t>Elektron sənədlərin hazırlanması qaydaları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>
                <a:solidFill>
                  <a:srgbClr val="64748B"/>
                </a:solidFill>
                <a:latin typeface="Calibri"/>
              </a:defRPr>
            </a:pPr>
            <a:r>
              <a:t>Hər bir rəsmi elektron sənəd hazırlanarkən standart formada olmalı və aşağıdakı hissələri əhatə etməlidir: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84831"/>
            <a:ext cx="6263640" cy="422452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8064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1. Başlıq (Ünvan) — sənədin kimə göndərildiyi (vəzifəsi, soyadı, adı).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2. Sənədin tarixi və qeydiyyat nömrəsi — sistem tərəfindən verilən nömrə və tarix.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3. Sənədin növünün adı — məsələn: SƏRƏNCAM, ARAYIŞ, XİDMƏTİ QEYD, MÜQAVİLƏ.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4. Mövzu başlığı — sənədin nə haqqında olduğunu qısa bildirən sətir.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5. Əsas mətn — sənədin yazılma səbəbi və verilən tapşırıq / müraciət hissəsi.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6. İmza hissəsi — sənədi hazırlayan və ya təsdiqləyən şəxsin vəzifəsi, adı və elektron imzası.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2084831"/>
            <a:ext cx="4206240" cy="422452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5_sened_hazirlanmasi_17908027543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240280"/>
            <a:ext cx="3931920" cy="29358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532180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64748B"/>
                </a:solidFill>
                <a:latin typeface="Calibri"/>
              </a:defRPr>
            </a:pPr>
            <a:r>
              <a:t>Rəsmi sənədin elektron tərtibi prosesi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109728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530352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Calibri"/>
              </a:defRPr>
            </a:pPr>
            <a:r>
              <a:t>Sənədlərin tərtibində dil və üslub tələbləri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>
                <a:solidFill>
                  <a:srgbClr val="64748B"/>
                </a:solidFill>
                <a:latin typeface="Calibri"/>
              </a:defRPr>
            </a:pPr>
            <a:r>
              <a:t>Elektron mühitdə hazırlanmasına baxmayaraq, sənədlərdə Azərbaycan ədəbi dilinin rəsmi-işgüzar üslub qaydaları qorunmalıdır: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84831"/>
            <a:ext cx="10698480" cy="422452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101498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Dəqiqlik və aydınlıq — cümlələr qısa, məntiqli və birmənalı yazılmalıdır.</a:t>
            </a:r>
          </a:p>
          <a:p>
            <a:pPr>
              <a:spcAft>
                <a:spcPts val="13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Standart ifadələr — inzibati sənədlərdə «bununla əlaqədar», «uyğun olaraq», «tapşırılsın», «təsdiq edilsin» kimi qəlib sözlərdən istifadə olunur.</a:t>
            </a:r>
          </a:p>
          <a:p>
            <a:pPr>
              <a:spcAft>
                <a:spcPts val="13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Bölmələrin düzgün ayrılması — bəndlər ardıcıl nömrələnməli və bir-birini təkrarlamamalıdır.</a:t>
            </a:r>
          </a:p>
          <a:p>
            <a:pPr>
              <a:spcAft>
                <a:spcPts val="13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Savadlılıq — cümlələr böyük hərflə başlamalı, durğu işarələri və Azərbaycan şriftləri (ə, ı, ö, ü, ç, ş, ğ) düzgün yazılmalıdır.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109728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530352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Calibri"/>
              </a:defRPr>
            </a:pPr>
            <a:r>
              <a:t>Elektron imza və Azərbaycanda tətbiqi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>
                <a:solidFill>
                  <a:srgbClr val="64748B"/>
                </a:solidFill>
                <a:latin typeface="Calibri"/>
              </a:defRPr>
            </a:pPr>
            <a:r>
              <a:t>Adi kompüter mətnini rəsmi sənədə çevirən əsas vasitə elektron imzadır.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84831"/>
            <a:ext cx="6263640" cy="422452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8064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750">
                <a:solidFill>
                  <a:srgbClr val="1E293B"/>
                </a:solidFill>
                <a:latin typeface="Calibri"/>
              </a:defRPr>
            </a:pPr>
            <a:r>
              <a:t>•  Elektron imza — sənədi imzalayan şəxsi dəqiq müəyyən edən və sənədin sonradan dəyişdirilməsinin qarşısını alan rəqəmsal koddur.</a:t>
            </a:r>
          </a:p>
          <a:p>
            <a:pPr>
              <a:spcAft>
                <a:spcPts val="1300"/>
              </a:spcAft>
              <a:defRPr sz="1750">
                <a:solidFill>
                  <a:srgbClr val="1E293B"/>
                </a:solidFill>
                <a:latin typeface="Calibri"/>
              </a:defRPr>
            </a:pPr>
            <a:r>
              <a:t>•  ASAN İmza — mobil nömrə (SİM-kart) üzərindən işləyən dövlət elektron imza xidmətidir.</a:t>
            </a:r>
          </a:p>
          <a:p>
            <a:pPr>
              <a:spcAft>
                <a:spcPts val="1300"/>
              </a:spcAft>
              <a:defRPr sz="1750">
                <a:solidFill>
                  <a:srgbClr val="1E293B"/>
                </a:solidFill>
                <a:latin typeface="Calibri"/>
              </a:defRPr>
            </a:pPr>
            <a:r>
              <a:t>•  SİMA İmza — mobil tətbiq və üz tanıma (biometriya) ilə işləyən yeni nəsil rəqəmsal imzadır.</a:t>
            </a:r>
          </a:p>
          <a:p>
            <a:pPr>
              <a:spcAft>
                <a:spcPts val="1300"/>
              </a:spcAft>
              <a:defRPr sz="1750">
                <a:solidFill>
                  <a:srgbClr val="1E293B"/>
                </a:solidFill>
                <a:latin typeface="Calibri"/>
              </a:defRPr>
            </a:pPr>
            <a:r>
              <a:t>•  Rəqəmsal Sənəd Dövriyyəsi (RSD) — dövlət qurumları arasında sənədlərin kağızsız, birbaşa elektron şəkildə göndərilməsini təmin edən sistemdir.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2084831"/>
            <a:ext cx="4206240" cy="422452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7_elektron_imza_17908027787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240280"/>
            <a:ext cx="3931920" cy="29358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532180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64748B"/>
                </a:solidFill>
                <a:latin typeface="Calibri"/>
              </a:defRPr>
            </a:pPr>
            <a:r>
              <a:t>Mobil tətbiq və e-imza ilə sənədin təsdiqi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109728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530352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Calibri"/>
              </a:defRPr>
            </a:pPr>
            <a:r>
              <a:t>Elektron sənədlərin icra qaydaları (Mərhələlər)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>
                <a:solidFill>
                  <a:srgbClr val="64748B"/>
                </a:solidFill>
                <a:latin typeface="Calibri"/>
              </a:defRPr>
            </a:pPr>
            <a:r>
              <a:t>Təşkilat daxilində elektron sənədin icrası 5 ardıcıl mərhələ ilə həyata keçirilir: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84831"/>
            <a:ext cx="6263640" cy="422452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8064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1. Layihənin hazırlanması — məsul işçi sistemdə sənədin mətnini tərtib edir.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2. Razılaşdırma — sənəd aidiyyəti şöbələrə (məsələn, hüquq və ya maliyyə şöbəsinə) göndərilir və rəy alınır.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3. İmzalanma — rəhbər şəxs sənədi elektron imza ilə təsdiqləyir.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4. Qeydiyyat və yönləndirmə — sənədə nömrə verilir və icra olunması üçün məsul şəxsə göndərilir.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5. İcraya nəzarət və Arxiv — tapşırıq yerinə yetirildikdən sonra sənəd elektron arxivdə saxlanılır.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2084831"/>
            <a:ext cx="4206240" cy="422452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8_icra_sx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240280"/>
            <a:ext cx="3931920" cy="29489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532180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64748B"/>
                </a:solidFill>
                <a:latin typeface="Calibri"/>
              </a:defRPr>
            </a:pPr>
            <a:r>
              <a:t>Elektron sənədin 5 mərhələli icra ardıcıllığı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109728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530352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Calibri"/>
              </a:defRPr>
            </a:pPr>
            <a:r>
              <a:t>İşgüzar elektron poçt (e-mail) yazışma qaydaları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>
                <a:solidFill>
                  <a:srgbClr val="64748B"/>
                </a:solidFill>
                <a:latin typeface="Calibri"/>
              </a:defRPr>
            </a:pPr>
            <a:r>
              <a:t>Gündəlik elektron sənəd mübadiləsində korporativ e-poçt qaydalarına əməl etmək vacibdir: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84831"/>
            <a:ext cx="6263640" cy="422452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8064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•  Məktubun «Mövzu» hissəsi həmişə aydın yazılmalıdır.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•  Elektron məktub kağız məktubdan təxminən 2 dəfə qısa və yığcam olmalıdır.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•  Məktubun sonundakı imza hissəsi 5–6 sətirdən çox olmamalı, əlaqə vasitələri qeyd edilməlidir.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•  İşgüzar elektron məktuba gecikmədən — ən gec 2 gün ərzində cavab verilməlidir.</a:t>
            </a:r>
          </a:p>
          <a:p>
            <a:pPr>
              <a:spcAft>
                <a:spcPts val="1000"/>
              </a:spcAft>
              <a:defRPr sz="1650">
                <a:solidFill>
                  <a:srgbClr val="1E293B"/>
                </a:solidFill>
                <a:latin typeface="Calibri"/>
              </a:defRPr>
            </a:pPr>
            <a:r>
              <a:t>•  Böyük həcmli fayllar göndərilərkən qarşı tərəfə əvvəlcədən məlumat verilməlidir.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2084831"/>
            <a:ext cx="4206240" cy="4224528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9_email_numune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240280"/>
            <a:ext cx="3931920" cy="29489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532180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64748B"/>
                </a:solidFill>
                <a:latin typeface="Calibri"/>
              </a:defRPr>
            </a:pPr>
            <a:r>
              <a:t>Standartlara uyğun işgüzar e-məktub nümunəsi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109728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530352"/>
            <a:ext cx="10424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40AF"/>
                </a:solidFill>
                <a:latin typeface="Calibri"/>
              </a:defRPr>
            </a:pPr>
            <a:r>
              <a:t>Nəticə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698480" cy="283464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10149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 Elektron sənəd dövriyyəsi müasir idarəetmədə vaxta qənaət edir, şəffaflığı və icra intizamını artırır.</a:t>
            </a:r>
          </a:p>
          <a:p>
            <a:pPr>
              <a:spcAft>
                <a:spcPts val="16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•  Elektron sənədlərin hüquqi qüvvəyə malik olması üçün onlar həm rəsmi-işgüzar dil qaydalarına uyğun hazırlanmalı, həm də elektron imza ilə təsdiqlənməlidir.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0916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1E40AF"/>
                </a:solidFill>
                <a:latin typeface="Calibri"/>
              </a:defRPr>
            </a:pPr>
            <a:r>
              <a:t>Diqqətinizə görə təşəkkür edirəm!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