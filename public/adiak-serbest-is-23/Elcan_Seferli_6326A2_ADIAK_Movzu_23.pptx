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Salam, hörmətli Nərminə müəllimə və tələbə yoldaşlarım! Mən 6326A2 qrup tələbəsi Səfərli Elcan. Bu gün «Azərbaycan dilində işgüzar və akademik kommunikasiya» fənni üzrə 23 nömrəli sərbəst iş mövzusunu — «Elektron sənəd dövriyyəsinin tətbiqi, bu növ sənədlərin hazırlanması və icra qaydaları» mövzusunu təqdim edəcəyəm.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Təqdimatımızın əsas məqsədi müəssisə və təşkilatlarda ənənəvi kağız kargüzarlığından elektron sənəd dövriyyəsinə keçidin mahiyyətini, bu növ sənədlərin dil-üslub xüsusiyyətlərini, məcburi rekvizitlərini və icra qaydalarını öyrənməkdir.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Elektron sənəd — informasiya sistemində istifadə üçün elektron formada təqdim edilən və elektron imza ilə təsdiqlənmiş rəsmi işgüzar sənəddir. Cədvəldə ənənəvi kağız kargüzarlığı ilə ESD-nin müqayisəsini görürük.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Dərs vəsaitimizin 14-cü mövzusunda göstərildiyi kimi, müəssisə və təşkilatın maraqlarına təsir göstərən xidməti sənədlər funksional məqsədi ilə 4 əsas qrupa bölünür və bu gün onların hamısı elektron dövriyyədə hazırlanır.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Azərbaycan Respublikasının «Elektron imza və elektron sənəd haqqında» Qanununa əsasən, gücləndirilmiş elektron imza ilə təsdiqlənmiş elektron sənəd əl imzası və möhürlə təsdiqlənmiş kağız sənədlə tam bərabər hüquqi qüvvəyə malikdir.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Dərs vəsaitimizin 129-cu səhifəsində qeyd edildiyi kimi, hər bir xidməti və elektron sənədin hüquqi qüvvəyə malik olması üçün onun 7 məcburi elementi — yəni rekviziti düzgün ardıcıllıqla yerləşdirilməlidir.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Məşğələ 14-ün 7 və 8-ci slaydlarında göstərildiyi kimi, təşkilati-inzibati sənədlərin janr orijinallığı 3 şərtə əsaslanır, mətni bəndlərə bölərkən isə 5 məcburi qaydaya əməl edilməlidir.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Elektron sənəd dövriyyəsində hər bir sənəd yaradıldığı andan arxivə qədər 5 ciddi icra mərhələsindən keçir: Layihənin hazırlanması, Vizalanma, Rəqəmsal imzalanma, Qeydiyyat və Dərkənar, İcraya nəzarət və Rəqəmsal arxiv.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Məşğələ 19-da elektron işgüzar rabitə üçün dəqiq qaydalar verilmişdir: e-poçt kağız məktubdan 2 dəfə qısa olmalı, elektron imza bloku 5-6 sətirdən və sətirdə 70 işarədən çox olmamalı, məktuba maksimum 2 gün ərzində cavab verilməlidir.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slaydda şaquli idarəetmə sənədi olan «Sərəncam»ın və şöbələrarası üfüqi əlaqə sənədi olan «Xidməti qeyd»in bütün 7 rekvizitlə hazırlanmış elektron nümunəsini görürük.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 İT tələbəsi olaraq vurğulamaq istəyirəm ki, elektron sənəd imzalanarkən onun mətnindən SHA-256 alqoritmi ilə unikal kriptoqrafik heş-kod çıxarılır. Mətndə 1 hərf belə dəyişdirilərsə, imza dərhal etibarsız sayılır.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Yekun olaraq, elektron sənəd dövriyyəsi müasir idarəetmənin onurğa sütunudur və hər bir elektron sənəd həm texniki kriptoqrafik standartlara, həm də Azərbaycan ədəbi dilinin rəsmi-işgüzar normalarına tam cavab verməlidir. Diqqətinizə görə təşəkkür edirəm!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AZƏRBAYCAN TEXNİKİ UNİVERSİTETİ</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İnformasiya və telekommunikasiya texnologiyaları fakültəsi · «Humanitar fənlər» kafedrası</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01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1005840"/>
            <a:ext cx="7040880" cy="5029200"/>
          </a:xfrm>
          <a:prstGeom prst="roundRect">
            <a:avLst>
              <a:gd name="adj" fmla="val 2000"/>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234440"/>
            <a:ext cx="6400800" cy="4572000"/>
          </a:xfrm>
          <a:prstGeom prst="rect">
            <a:avLst/>
          </a:prstGeom>
          <a:noFill/>
        </p:spPr>
        <p:txBody>
          <a:bodyPr wrap="square">
            <a:spAutoFit/>
          </a:bodyPr>
          <a:lstStyle/>
          <a:p>
            <a:pPr>
              <a:spcAft>
                <a:spcPts val="1400"/>
              </a:spcAft>
              <a:defRPr sz="1100" b="1">
                <a:solidFill>
                  <a:srgbClr val="1E3A8A"/>
                </a:solidFill>
                <a:latin typeface="Arial"/>
              </a:defRPr>
            </a:pPr>
            <a:r>
              <a:t>SƏRBƏST İŞ TƏQDİMATI · MÖVZU № 23 (KOICA LMS #1274)</a:t>
            </a:r>
          </a:p>
          <a:p>
            <a:pPr>
              <a:spcAft>
                <a:spcPts val="1400"/>
              </a:spcAft>
              <a:defRPr sz="2600" b="1">
                <a:solidFill>
                  <a:srgbClr val="0F172A"/>
                </a:solidFill>
                <a:latin typeface="Georgia"/>
              </a:defRPr>
            </a:pPr>
            <a:r>
              <a:t>Elektron sənəd dövriyyəsinin tətbiqi, bu növ sənədlərin hazırlanması və icra qaydaları</a:t>
            </a:r>
          </a:p>
          <a:p>
            <a:pPr>
              <a:spcAft>
                <a:spcPts val="2000"/>
              </a:spcAft>
              <a:defRPr sz="1300">
                <a:solidFill>
                  <a:srgbClr val="475569"/>
                </a:solidFill>
                <a:latin typeface="Arial"/>
              </a:defRPr>
            </a:pPr>
            <a:r>
              <a:t>«Azərbaycan dilində işgüzar və akademik kommunikasiya» fənni üzrə rəsmi-işgüzar sənədlərin rəqəmsallaşdırılması, hüquqi-dil standartları, 7 məcburi rekvizit və 5 mərhələli icra mexanizminin təhlili</a:t>
            </a:r>
          </a:p>
          <a:p>
            <a:pPr>
              <a:spcAft>
                <a:spcPts val="600"/>
              </a:spcAft>
              <a:defRPr sz="1200" b="1">
                <a:solidFill>
                  <a:srgbClr val="1E3A8A"/>
                </a:solidFill>
                <a:latin typeface="Arial"/>
              </a:defRPr>
            </a:pPr>
            <a:r>
              <a:t>• Təşkilati, inzibati və istinad-analitik sənədlərin elektron dövriyyəsi</a:t>
            </a:r>
          </a:p>
          <a:p>
            <a:pPr>
              <a:spcAft>
                <a:spcPts val="600"/>
              </a:spcAft>
              <a:defRPr sz="1200" b="1">
                <a:solidFill>
                  <a:srgbClr val="1E3A8A"/>
                </a:solidFill>
                <a:latin typeface="Arial"/>
              </a:defRPr>
            </a:pPr>
            <a:r>
              <a:t>• «Elektron imza və elektron sənəd haqqında» AR Qanunu, ASAN İmza və SİMA</a:t>
            </a:r>
          </a:p>
          <a:p>
            <a:pPr>
              <a:spcAft>
                <a:spcPts val="600"/>
              </a:spcAft>
              <a:defRPr sz="1200" b="1">
                <a:solidFill>
                  <a:srgbClr val="1E3A8A"/>
                </a:solidFill>
                <a:latin typeface="Arial"/>
              </a:defRPr>
            </a:pPr>
            <a:r>
              <a:t>• Xidməti sənədin 7 məcburi rekviziti və mətnin 5 təsnifat qaydası</a:t>
            </a:r>
          </a:p>
          <a:p>
            <a:pPr>
              <a:spcAft>
                <a:spcPts val="600"/>
              </a:spcAft>
              <a:defRPr sz="1200" b="1">
                <a:solidFill>
                  <a:srgbClr val="1E3A8A"/>
                </a:solidFill>
                <a:latin typeface="Arial"/>
              </a:defRPr>
            </a:pPr>
            <a:r>
              <a:t>• 5 mərhələli icra alqoritmi (Workflow) və korporativ e-poçt normativləri</a:t>
            </a:r>
          </a:p>
        </p:txBody>
      </p:sp>
      <p:sp>
        <p:nvSpPr>
          <p:cNvPr id="13" name="Rounded Rectangle 12"/>
          <p:cNvSpPr/>
          <p:nvPr/>
        </p:nvSpPr>
        <p:spPr>
          <a:xfrm>
            <a:off x="7818120" y="1005840"/>
            <a:ext cx="3822191" cy="502920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82712" y="1133856"/>
            <a:ext cx="3493008" cy="4773168"/>
          </a:xfrm>
          <a:prstGeom prst="rect">
            <a:avLst/>
          </a:prstGeom>
          <a:noFill/>
        </p:spPr>
        <p:txBody>
          <a:bodyPr wrap="square">
            <a:spAutoFit/>
          </a:bodyPr>
          <a:lstStyle/>
          <a:p>
            <a:pPr>
              <a:spcAft>
                <a:spcPts val="600"/>
              </a:spcAft>
              <a:defRPr sz="1300" b="1">
                <a:solidFill>
                  <a:srgbClr val="1E3A8A"/>
                </a:solidFill>
                <a:latin typeface="Arial"/>
              </a:defRPr>
            </a:pPr>
            <a:r>
              <a:t>TƏQDİMAT MƏLUMATLARI</a:t>
            </a:r>
          </a:p>
          <a:p>
            <a:pPr>
              <a:spcAft>
                <a:spcPts val="400"/>
              </a:spcAft>
              <a:defRPr sz="1150">
                <a:solidFill>
                  <a:srgbClr val="0F172A"/>
                </a:solidFill>
                <a:latin typeface="Arial"/>
              </a:defRPr>
            </a:pPr>
            <a:r>
              <a:t>▸ Fənnin adı:</a:t>
            </a:r>
          </a:p>
          <a:p>
            <a:pPr>
              <a:spcAft>
                <a:spcPts val="400"/>
              </a:spcAft>
              <a:defRPr sz="1150">
                <a:solidFill>
                  <a:srgbClr val="0F172A"/>
                </a:solidFill>
                <a:latin typeface="Arial"/>
              </a:defRPr>
            </a:pPr>
            <a:r>
              <a:t>   Azərbaycan dilində işgüzar və akademik kommunikasiya</a:t>
            </a:r>
          </a:p>
          <a:p>
            <a:pPr>
              <a:spcAft>
                <a:spcPts val="400"/>
              </a:spcAft>
              <a:defRPr sz="1150">
                <a:solidFill>
                  <a:srgbClr val="0F172A"/>
                </a:solidFill>
                <a:latin typeface="Arial"/>
              </a:defRPr>
            </a:pPr>
          </a:p>
          <a:p>
            <a:pPr>
              <a:spcAft>
                <a:spcPts val="400"/>
              </a:spcAft>
              <a:defRPr sz="1150">
                <a:solidFill>
                  <a:srgbClr val="0F172A"/>
                </a:solidFill>
                <a:latin typeface="Arial"/>
              </a:defRPr>
            </a:pPr>
            <a:r>
              <a:t>▸ Tələbə:</a:t>
            </a:r>
          </a:p>
          <a:p>
            <a:pPr>
              <a:spcAft>
                <a:spcPts val="400"/>
              </a:spcAft>
              <a:defRPr sz="1150">
                <a:solidFill>
                  <a:srgbClr val="0F172A"/>
                </a:solidFill>
                <a:latin typeface="Arial"/>
              </a:defRPr>
            </a:pPr>
            <a:r>
              <a:t>   Səfərli Elcan (ID: 202606225)</a:t>
            </a:r>
          </a:p>
          <a:p>
            <a:pPr>
              <a:spcAft>
                <a:spcPts val="400"/>
              </a:spcAft>
              <a:defRPr sz="1150">
                <a:solidFill>
                  <a:srgbClr val="0F172A"/>
                </a:solidFill>
                <a:latin typeface="Arial"/>
              </a:defRPr>
            </a:pPr>
          </a:p>
          <a:p>
            <a:pPr>
              <a:spcAft>
                <a:spcPts val="400"/>
              </a:spcAft>
              <a:defRPr sz="1150">
                <a:solidFill>
                  <a:srgbClr val="0F172A"/>
                </a:solidFill>
                <a:latin typeface="Arial"/>
              </a:defRPr>
            </a:pPr>
            <a:r>
              <a:t>▸ Akademik Qrup:</a:t>
            </a:r>
          </a:p>
          <a:p>
            <a:pPr>
              <a:spcAft>
                <a:spcPts val="400"/>
              </a:spcAft>
              <a:defRPr sz="1150">
                <a:solidFill>
                  <a:srgbClr val="0F172A"/>
                </a:solidFill>
                <a:latin typeface="Arial"/>
              </a:defRPr>
            </a:pPr>
            <a:r>
              <a:t>   6326A2 (I kurs, 2026 Payız semestri)</a:t>
            </a:r>
          </a:p>
          <a:p>
            <a:pPr>
              <a:spcAft>
                <a:spcPts val="400"/>
              </a:spcAft>
              <a:defRPr sz="1150">
                <a:solidFill>
                  <a:srgbClr val="0F172A"/>
                </a:solidFill>
                <a:latin typeface="Arial"/>
              </a:defRPr>
            </a:pPr>
          </a:p>
          <a:p>
            <a:pPr>
              <a:spcAft>
                <a:spcPts val="400"/>
              </a:spcAft>
              <a:defRPr sz="1150">
                <a:solidFill>
                  <a:srgbClr val="0F172A"/>
                </a:solidFill>
                <a:latin typeface="Arial"/>
              </a:defRPr>
            </a:pPr>
            <a:r>
              <a:t>▸ Fənn müəllimi:</a:t>
            </a:r>
          </a:p>
          <a:p>
            <a:pPr>
              <a:spcAft>
                <a:spcPts val="400"/>
              </a:spcAft>
              <a:defRPr sz="1150">
                <a:solidFill>
                  <a:srgbClr val="0F172A"/>
                </a:solidFill>
                <a:latin typeface="Arial"/>
              </a:defRPr>
            </a:pPr>
            <a:r>
              <a:t>   Müəl. Nərminə İsayeva</a:t>
            </a:r>
          </a:p>
          <a:p>
            <a:pPr>
              <a:spcAft>
                <a:spcPts val="400"/>
              </a:spcAft>
              <a:defRPr sz="1150">
                <a:solidFill>
                  <a:srgbClr val="0F172A"/>
                </a:solidFill>
                <a:latin typeface="Arial"/>
              </a:defRPr>
            </a:pPr>
          </a:p>
          <a:p>
            <a:pPr>
              <a:spcAft>
                <a:spcPts val="400"/>
              </a:spcAft>
              <a:defRPr sz="1150">
                <a:solidFill>
                  <a:srgbClr val="0F172A"/>
                </a:solidFill>
                <a:latin typeface="Arial"/>
              </a:defRPr>
            </a:pPr>
            <a:r>
              <a:t>▸ Kafedra:</a:t>
            </a:r>
          </a:p>
          <a:p>
            <a:pPr>
              <a:spcAft>
                <a:spcPts val="400"/>
              </a:spcAft>
              <a:defRPr sz="1150">
                <a:solidFill>
                  <a:srgbClr val="0F172A"/>
                </a:solidFill>
                <a:latin typeface="Arial"/>
              </a:defRPr>
            </a:pPr>
            <a:r>
              <a:t>   AzTU «Humanitar fənlər» kafedrası</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GİRİŞ VƏ STRUKTUR</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Tədqiqatın məqsədi, aktuallığı və 4 əsas istiqaməti</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02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11094415" cy="96012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10765231" cy="704088"/>
          </a:xfrm>
          <a:prstGeom prst="rect">
            <a:avLst/>
          </a:prstGeom>
          <a:noFill/>
        </p:spPr>
        <p:txBody>
          <a:bodyPr wrap="square">
            <a:spAutoFit/>
          </a:bodyPr>
          <a:lstStyle/>
          <a:p>
            <a:pPr>
              <a:spcAft>
                <a:spcPts val="600"/>
              </a:spcAft>
              <a:defRPr sz="1350" b="1">
                <a:solidFill>
                  <a:srgbClr val="1E3A8A"/>
                </a:solidFill>
                <a:latin typeface="Arial"/>
              </a:defRPr>
            </a:pPr>
            <a:r>
              <a:t>TƏDQİQATIN MƏQSƏDİ (MƏŞĞƏLƏ 14 &amp; 19 ƏSASINDA)</a:t>
            </a:r>
          </a:p>
          <a:p>
            <a:pPr>
              <a:spcAft>
                <a:spcPts val="400"/>
              </a:spcAft>
              <a:defRPr sz="1200">
                <a:solidFill>
                  <a:srgbClr val="0F172A"/>
                </a:solidFill>
                <a:latin typeface="Arial"/>
              </a:defRPr>
            </a:pPr>
            <a:r>
              <a:t>Müəssisə və təşkilatların maraqlarına təsir göstərən xidməti sənədlərin (təşkilati, inzibati, istinad-analitik və rəsmi məktubların) elektron sənəd dövriyyəsində (ESD) hazırlanması, rəqəmsal imzalanması və icra qaydalarını sistemli şəkildə təhlil etməkdir.</a:t>
            </a:r>
          </a:p>
        </p:txBody>
      </p:sp>
      <p:sp>
        <p:nvSpPr>
          <p:cNvPr id="13" name="Rounded Rectangle 12"/>
          <p:cNvSpPr/>
          <p:nvPr/>
        </p:nvSpPr>
        <p:spPr>
          <a:xfrm>
            <a:off x="548640" y="2103120"/>
            <a:ext cx="265176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231136"/>
            <a:ext cx="2322576" cy="3721607"/>
          </a:xfrm>
          <a:prstGeom prst="rect">
            <a:avLst/>
          </a:prstGeom>
          <a:noFill/>
        </p:spPr>
        <p:txBody>
          <a:bodyPr wrap="square">
            <a:spAutoFit/>
          </a:bodyPr>
          <a:lstStyle/>
          <a:p>
            <a:pPr>
              <a:spcAft>
                <a:spcPts val="600"/>
              </a:spcAft>
              <a:defRPr sz="1300" b="1">
                <a:solidFill>
                  <a:srgbClr val="1E3A8A"/>
                </a:solidFill>
                <a:latin typeface="Arial"/>
              </a:defRPr>
            </a:pPr>
            <a:r>
              <a:t>BÖLMƏ 01: Mahiyyət və Təsnifat</a:t>
            </a:r>
          </a:p>
          <a:p>
            <a:pPr>
              <a:spcAft>
                <a:spcPts val="400"/>
              </a:spcAft>
              <a:defRPr sz="1150">
                <a:solidFill>
                  <a:srgbClr val="0F172A"/>
                </a:solidFill>
                <a:latin typeface="Arial"/>
              </a:defRPr>
            </a:pPr>
            <a:r>
              <a:t>• Elektron sənəd və ESD anlayışı</a:t>
            </a:r>
          </a:p>
          <a:p>
            <a:pPr>
              <a:spcAft>
                <a:spcPts val="400"/>
              </a:spcAft>
              <a:defRPr sz="1150">
                <a:solidFill>
                  <a:srgbClr val="0F172A"/>
                </a:solidFill>
                <a:latin typeface="Arial"/>
              </a:defRPr>
            </a:pPr>
            <a:r>
              <a:t>• Kağız və elektron dövriyyənin müqayisəsi</a:t>
            </a:r>
          </a:p>
          <a:p>
            <a:pPr>
              <a:spcAft>
                <a:spcPts val="400"/>
              </a:spcAft>
              <a:defRPr sz="1150">
                <a:solidFill>
                  <a:srgbClr val="0F172A"/>
                </a:solidFill>
                <a:latin typeface="Arial"/>
              </a:defRPr>
            </a:pPr>
            <a:r>
              <a:t>• Təşkilati sənədlər (plan, müqavilə)</a:t>
            </a:r>
          </a:p>
          <a:p>
            <a:pPr>
              <a:spcAft>
                <a:spcPts val="400"/>
              </a:spcAft>
              <a:defRPr sz="1150">
                <a:solidFill>
                  <a:srgbClr val="0F172A"/>
                </a:solidFill>
                <a:latin typeface="Arial"/>
              </a:defRPr>
            </a:pPr>
            <a:r>
              <a:t>• İnzibati sənədlər (fərman, qərar, sərəncam)</a:t>
            </a:r>
          </a:p>
          <a:p>
            <a:pPr>
              <a:spcAft>
                <a:spcPts val="400"/>
              </a:spcAft>
              <a:defRPr sz="1150">
                <a:solidFill>
                  <a:srgbClr val="0F172A"/>
                </a:solidFill>
                <a:latin typeface="Arial"/>
              </a:defRPr>
            </a:pPr>
            <a:r>
              <a:t>• İstinad-analitik sənədlər (arayış, akt, qeyd)</a:t>
            </a:r>
          </a:p>
        </p:txBody>
      </p:sp>
      <p:sp>
        <p:nvSpPr>
          <p:cNvPr id="15" name="Rounded Rectangle 14"/>
          <p:cNvSpPr/>
          <p:nvPr/>
        </p:nvSpPr>
        <p:spPr>
          <a:xfrm>
            <a:off x="3364992" y="2103120"/>
            <a:ext cx="265176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9584" y="2231136"/>
            <a:ext cx="2322576" cy="3721607"/>
          </a:xfrm>
          <a:prstGeom prst="rect">
            <a:avLst/>
          </a:prstGeom>
          <a:noFill/>
        </p:spPr>
        <p:txBody>
          <a:bodyPr wrap="square">
            <a:spAutoFit/>
          </a:bodyPr>
          <a:lstStyle/>
          <a:p>
            <a:pPr>
              <a:spcAft>
                <a:spcPts val="600"/>
              </a:spcAft>
              <a:defRPr sz="1300" b="1">
                <a:solidFill>
                  <a:srgbClr val="1E3A8A"/>
                </a:solidFill>
                <a:latin typeface="Arial"/>
              </a:defRPr>
            </a:pPr>
            <a:r>
              <a:t>BÖLMƏ 02: Hüquqi Baza və İmza</a:t>
            </a:r>
          </a:p>
          <a:p>
            <a:pPr>
              <a:spcAft>
                <a:spcPts val="400"/>
              </a:spcAft>
              <a:defRPr sz="1150">
                <a:solidFill>
                  <a:srgbClr val="0F172A"/>
                </a:solidFill>
                <a:latin typeface="Arial"/>
              </a:defRPr>
            </a:pPr>
            <a:r>
              <a:t>• «Elektron imza və elektron sənəd haqqında» Qanun</a:t>
            </a:r>
          </a:p>
          <a:p>
            <a:pPr>
              <a:spcAft>
                <a:spcPts val="400"/>
              </a:spcAft>
              <a:defRPr sz="1150">
                <a:solidFill>
                  <a:srgbClr val="0F172A"/>
                </a:solidFill>
                <a:latin typeface="Arial"/>
              </a:defRPr>
            </a:pPr>
            <a:r>
              <a:t>• «Dövlət dili haqqında» AR Qanunu</a:t>
            </a:r>
          </a:p>
          <a:p>
            <a:pPr>
              <a:spcAft>
                <a:spcPts val="400"/>
              </a:spcAft>
              <a:defRPr sz="1150">
                <a:solidFill>
                  <a:srgbClr val="0F172A"/>
                </a:solidFill>
                <a:latin typeface="Arial"/>
              </a:defRPr>
            </a:pPr>
            <a:r>
              <a:t>• Rəqəmsal Sənəd Dövriyyəsi (RSD)</a:t>
            </a:r>
          </a:p>
          <a:p>
            <a:pPr>
              <a:spcAft>
                <a:spcPts val="400"/>
              </a:spcAft>
              <a:defRPr sz="1150">
                <a:solidFill>
                  <a:srgbClr val="0F172A"/>
                </a:solidFill>
                <a:latin typeface="Arial"/>
              </a:defRPr>
            </a:pPr>
            <a:r>
              <a:t>• ASAN İmza və biometrik SİMA İmza</a:t>
            </a:r>
          </a:p>
          <a:p>
            <a:pPr>
              <a:spcAft>
                <a:spcPts val="400"/>
              </a:spcAft>
              <a:defRPr sz="1150">
                <a:solidFill>
                  <a:srgbClr val="0F172A"/>
                </a:solidFill>
                <a:latin typeface="Arial"/>
              </a:defRPr>
            </a:pPr>
            <a:r>
              <a:t>• QR-kod və zaman möhürü (Timestamp)</a:t>
            </a:r>
          </a:p>
        </p:txBody>
      </p:sp>
      <p:sp>
        <p:nvSpPr>
          <p:cNvPr id="17" name="Rounded Rectangle 16"/>
          <p:cNvSpPr/>
          <p:nvPr/>
        </p:nvSpPr>
        <p:spPr>
          <a:xfrm>
            <a:off x="6181344" y="2103120"/>
            <a:ext cx="265176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45936" y="2231136"/>
            <a:ext cx="2322576" cy="3721607"/>
          </a:xfrm>
          <a:prstGeom prst="rect">
            <a:avLst/>
          </a:prstGeom>
          <a:noFill/>
        </p:spPr>
        <p:txBody>
          <a:bodyPr wrap="square">
            <a:spAutoFit/>
          </a:bodyPr>
          <a:lstStyle/>
          <a:p>
            <a:pPr>
              <a:spcAft>
                <a:spcPts val="600"/>
              </a:spcAft>
              <a:defRPr sz="1300" b="1">
                <a:solidFill>
                  <a:srgbClr val="1E3A8A"/>
                </a:solidFill>
                <a:latin typeface="Arial"/>
              </a:defRPr>
            </a:pPr>
            <a:r>
              <a:t>BÖLMƏ 03: Hazırlanma Qaydaları</a:t>
            </a:r>
          </a:p>
          <a:p>
            <a:pPr>
              <a:spcAft>
                <a:spcPts val="400"/>
              </a:spcAft>
              <a:defRPr sz="1150">
                <a:solidFill>
                  <a:srgbClr val="0F172A"/>
                </a:solidFill>
                <a:latin typeface="Arial"/>
              </a:defRPr>
            </a:pPr>
            <a:r>
              <a:t>• Xidməti sənədin 7 məcburi rekviziti</a:t>
            </a:r>
          </a:p>
          <a:p>
            <a:pPr>
              <a:spcAft>
                <a:spcPts val="400"/>
              </a:spcAft>
              <a:defRPr sz="1150">
                <a:solidFill>
                  <a:srgbClr val="0F172A"/>
                </a:solidFill>
                <a:latin typeface="Arial"/>
              </a:defRPr>
            </a:pPr>
            <a:r>
              <a:t>• Janr orijinallığının 3 şərti</a:t>
            </a:r>
          </a:p>
          <a:p>
            <a:pPr>
              <a:spcAft>
                <a:spcPts val="400"/>
              </a:spcAft>
              <a:defRPr sz="1150">
                <a:solidFill>
                  <a:srgbClr val="0F172A"/>
                </a:solidFill>
                <a:latin typeface="Arial"/>
              </a:defRPr>
            </a:pPr>
            <a:r>
              <a:t>• Dəstəkləyici sözlər və rubrikalar</a:t>
            </a:r>
          </a:p>
          <a:p>
            <a:pPr>
              <a:spcAft>
                <a:spcPts val="400"/>
              </a:spcAft>
              <a:defRPr sz="1150">
                <a:solidFill>
                  <a:srgbClr val="0F172A"/>
                </a:solidFill>
                <a:latin typeface="Arial"/>
              </a:defRPr>
            </a:pPr>
            <a:r>
              <a:t>• Mətni bölmələrə ayırmağın 5 qaydası</a:t>
            </a:r>
          </a:p>
          <a:p>
            <a:pPr>
              <a:spcAft>
                <a:spcPts val="400"/>
              </a:spcAft>
              <a:defRPr sz="1150">
                <a:solidFill>
                  <a:srgbClr val="0F172A"/>
                </a:solidFill>
                <a:latin typeface="Arial"/>
              </a:defRPr>
            </a:pPr>
            <a:r>
              <a:t>• Korporativ elektron imza standartı</a:t>
            </a:r>
          </a:p>
        </p:txBody>
      </p:sp>
      <p:sp>
        <p:nvSpPr>
          <p:cNvPr id="19" name="Rounded Rectangle 18"/>
          <p:cNvSpPr/>
          <p:nvPr/>
        </p:nvSpPr>
        <p:spPr>
          <a:xfrm>
            <a:off x="8997696" y="2103120"/>
            <a:ext cx="265176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62288" y="2231136"/>
            <a:ext cx="2322576" cy="3721607"/>
          </a:xfrm>
          <a:prstGeom prst="rect">
            <a:avLst/>
          </a:prstGeom>
          <a:noFill/>
        </p:spPr>
        <p:txBody>
          <a:bodyPr wrap="square">
            <a:spAutoFit/>
          </a:bodyPr>
          <a:lstStyle/>
          <a:p>
            <a:pPr>
              <a:spcAft>
                <a:spcPts val="600"/>
              </a:spcAft>
              <a:defRPr sz="1300" b="1">
                <a:solidFill>
                  <a:srgbClr val="1E3A8A"/>
                </a:solidFill>
                <a:latin typeface="Arial"/>
              </a:defRPr>
            </a:pPr>
            <a:r>
              <a:t>BÖLMƏ 04: İcra Mexanizmi</a:t>
            </a:r>
          </a:p>
          <a:p>
            <a:pPr>
              <a:spcAft>
                <a:spcPts val="400"/>
              </a:spcAft>
              <a:defRPr sz="1150">
                <a:solidFill>
                  <a:srgbClr val="0F172A"/>
                </a:solidFill>
                <a:latin typeface="Arial"/>
              </a:defRPr>
            </a:pPr>
            <a:r>
              <a:t>• 5 mərhələli icra axını (Workflow)</a:t>
            </a:r>
          </a:p>
          <a:p>
            <a:pPr>
              <a:spcAft>
                <a:spcPts val="400"/>
              </a:spcAft>
              <a:defRPr sz="1150">
                <a:solidFill>
                  <a:srgbClr val="0F172A"/>
                </a:solidFill>
                <a:latin typeface="Arial"/>
              </a:defRPr>
            </a:pPr>
            <a:r>
              <a:t>• Layihə → Viza → İmza → Dərkənar → Arxiv</a:t>
            </a:r>
          </a:p>
          <a:p>
            <a:pPr>
              <a:spcAft>
                <a:spcPts val="400"/>
              </a:spcAft>
              <a:defRPr sz="1150">
                <a:solidFill>
                  <a:srgbClr val="0F172A"/>
                </a:solidFill>
                <a:latin typeface="Arial"/>
              </a:defRPr>
            </a:pPr>
            <a:r>
              <a:t>• Korporativ e-poçtda 6 icra qaydası</a:t>
            </a:r>
          </a:p>
          <a:p>
            <a:pPr>
              <a:spcAft>
                <a:spcPts val="400"/>
              </a:spcAft>
              <a:defRPr sz="1150">
                <a:solidFill>
                  <a:srgbClr val="0F172A"/>
                </a:solidFill>
                <a:latin typeface="Arial"/>
              </a:defRPr>
            </a:pPr>
            <a:r>
              <a:t>• Sərəncam və Xidməti qeyd nümunələri</a:t>
            </a:r>
          </a:p>
          <a:p>
            <a:pPr>
              <a:spcAft>
                <a:spcPts val="400"/>
              </a:spcAft>
              <a:defRPr sz="1150">
                <a:solidFill>
                  <a:srgbClr val="0F172A"/>
                </a:solidFill>
                <a:latin typeface="Arial"/>
              </a:defRPr>
            </a:pPr>
            <a:r>
              <a:t>• Kriptoqrafik bütövlük (SHA-256)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1 · NƏZƏRİ ƏSASLAR</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Elektron sənəd və Elektron Sənəd Dövriyyəsi (ESD) anlayışı</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03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4754880" cy="237744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4425696" cy="2121408"/>
          </a:xfrm>
          <a:prstGeom prst="rect">
            <a:avLst/>
          </a:prstGeom>
          <a:noFill/>
        </p:spPr>
        <p:txBody>
          <a:bodyPr wrap="square">
            <a:spAutoFit/>
          </a:bodyPr>
          <a:lstStyle/>
          <a:p>
            <a:pPr>
              <a:spcAft>
                <a:spcPts val="600"/>
              </a:spcAft>
              <a:defRPr sz="1350" b="1">
                <a:solidFill>
                  <a:srgbClr val="1E3A8A"/>
                </a:solidFill>
                <a:latin typeface="Arial"/>
              </a:defRPr>
            </a:pPr>
            <a:r>
              <a:t>📌 Elektron Sənəd Nədir?</a:t>
            </a:r>
          </a:p>
          <a:p>
            <a:pPr>
              <a:spcAft>
                <a:spcPts val="400"/>
              </a:spcAft>
              <a:defRPr sz="1200">
                <a:solidFill>
                  <a:srgbClr val="0F172A"/>
                </a:solidFill>
                <a:latin typeface="Arial"/>
              </a:defRPr>
            </a:pPr>
            <a:r>
              <a:t>İnformasiya sistemlərində istifadə üçün elektron formada (rəqəmsal mühitdə) tərtib edilən, 7 məcburi rekvizitə malik olan və gücləndirilmiş elektron imza ilə təsdiqlənən rəsmi işgüzar kommunikasiya məhsuludur.</a:t>
            </a:r>
          </a:p>
        </p:txBody>
      </p:sp>
      <p:sp>
        <p:nvSpPr>
          <p:cNvPr id="13" name="Rounded Rectangle 12"/>
          <p:cNvSpPr/>
          <p:nvPr/>
        </p:nvSpPr>
        <p:spPr>
          <a:xfrm>
            <a:off x="548640" y="3520440"/>
            <a:ext cx="4754880" cy="256032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3648456"/>
            <a:ext cx="4425696" cy="2304287"/>
          </a:xfrm>
          <a:prstGeom prst="rect">
            <a:avLst/>
          </a:prstGeom>
          <a:noFill/>
        </p:spPr>
        <p:txBody>
          <a:bodyPr wrap="square">
            <a:spAutoFit/>
          </a:bodyPr>
          <a:lstStyle/>
          <a:p>
            <a:pPr>
              <a:spcAft>
                <a:spcPts val="600"/>
              </a:spcAft>
              <a:defRPr sz="1350" b="1">
                <a:solidFill>
                  <a:srgbClr val="1E3A8A"/>
                </a:solidFill>
                <a:latin typeface="Arial"/>
              </a:defRPr>
            </a:pPr>
            <a:r>
              <a:t>🔄 Elektron Sənəd Dövriyyəsi (ESD) Nədir?</a:t>
            </a:r>
          </a:p>
          <a:p>
            <a:pPr>
              <a:spcAft>
                <a:spcPts val="400"/>
              </a:spcAft>
              <a:defRPr sz="1200">
                <a:solidFill>
                  <a:srgbClr val="0F172A"/>
                </a:solidFill>
                <a:latin typeface="Arial"/>
              </a:defRPr>
            </a:pPr>
            <a:r>
              <a:t>Müəssisə daxilində və ya qurumlar arasında sənədlərin yaradılması, razılaşdırılması (vizalanması), imzalanması, qeydiyyatı, icraya yönəldilməsi və arxivləşdirilməsi proseslərinin vahid rəqəmsal şəbəkə üzərindən avtomatlaşdırılmasıdır.</a:t>
            </a:r>
          </a:p>
        </p:txBody>
      </p:sp>
      <p:graphicFrame>
        <p:nvGraphicFramePr>
          <p:cNvPr id="15" name="Table 14"/>
          <p:cNvGraphicFramePr>
            <a:graphicFrameLocks noGrp="1"/>
          </p:cNvGraphicFramePr>
          <p:nvPr/>
        </p:nvGraphicFramePr>
        <p:xfrm>
          <a:off x="5532120" y="960120"/>
          <a:ext cx="6108192" cy="5120640"/>
        </p:xfrm>
        <a:graphic>
          <a:graphicData uri="http://schemas.openxmlformats.org/drawingml/2006/table">
            <a:tbl>
              <a:tblPr firstRow="1" bandRow="1">
                <a:tableStyleId>{5C22544A-7EE6-4342-B048-85BDC9FD1C3A}</a:tableStyleId>
              </a:tblPr>
              <a:tblGrid>
                <a:gridCol w="1600200"/>
                <a:gridCol w="2194560"/>
                <a:gridCol w="2313432"/>
              </a:tblGrid>
              <a:tr h="853440">
                <a:tc>
                  <a:txBody>
                    <a:bodyPr/>
                    <a:lstStyle/>
                    <a:p>
                      <a:pPr>
                        <a:defRPr sz="1100" b="1">
                          <a:solidFill>
                            <a:srgbClr val="FFFFFF"/>
                          </a:solidFill>
                          <a:latin typeface="Arial"/>
                        </a:defRPr>
                      </a:pPr>
                      <a:r>
                        <a:t>Meyar</a:t>
                      </a:r>
                    </a:p>
                  </a:txBody>
                  <a:tcPr anchor="ctr">
                    <a:solidFill>
                      <a:srgbClr val="1E3A8A"/>
                    </a:solidFill>
                  </a:tcPr>
                </a:tc>
                <a:tc>
                  <a:txBody>
                    <a:bodyPr/>
                    <a:lstStyle/>
                    <a:p>
                      <a:pPr>
                        <a:defRPr sz="1100" b="1">
                          <a:solidFill>
                            <a:srgbClr val="FFFFFF"/>
                          </a:solidFill>
                          <a:latin typeface="Arial"/>
                        </a:defRPr>
                      </a:pPr>
                      <a:r>
                        <a:t>Ənənəvi Kağız Kargüzarlığı</a:t>
                      </a:r>
                    </a:p>
                  </a:txBody>
                  <a:tcPr anchor="ctr">
                    <a:solidFill>
                      <a:srgbClr val="1E3A8A"/>
                    </a:solidFill>
                  </a:tcPr>
                </a:tc>
                <a:tc>
                  <a:txBody>
                    <a:bodyPr/>
                    <a:lstStyle/>
                    <a:p>
                      <a:pPr>
                        <a:defRPr sz="1100" b="1">
                          <a:solidFill>
                            <a:srgbClr val="FFFFFF"/>
                          </a:solidFill>
                          <a:latin typeface="Arial"/>
                        </a:defRPr>
                      </a:pPr>
                      <a:r>
                        <a:t>Elektron Sənəd Dövriyyəsi (ESD)</a:t>
                      </a:r>
                    </a:p>
                  </a:txBody>
                  <a:tcPr anchor="ctr">
                    <a:solidFill>
                      <a:srgbClr val="1E3A8A"/>
                    </a:solidFill>
                  </a:tcPr>
                </a:tc>
              </a:tr>
              <a:tr h="853440">
                <a:tc>
                  <a:txBody>
                    <a:bodyPr/>
                    <a:lstStyle/>
                    <a:p>
                      <a:pPr>
                        <a:defRPr sz="1100" b="1">
                          <a:solidFill>
                            <a:srgbClr val="0F172A"/>
                          </a:solidFill>
                          <a:latin typeface="Arial"/>
                        </a:defRPr>
                      </a:pPr>
                      <a:r>
                        <a:t>Çatdırılma sürəti</a:t>
                      </a:r>
                    </a:p>
                  </a:txBody>
                  <a:tcPr anchor="ctr">
                    <a:solidFill>
                      <a:srgbClr val="F8FAFC"/>
                    </a:solidFill>
                  </a:tcPr>
                </a:tc>
                <a:tc>
                  <a:txBody>
                    <a:bodyPr/>
                    <a:lstStyle/>
                    <a:p>
                      <a:pPr>
                        <a:defRPr sz="1100" b="0">
                          <a:solidFill>
                            <a:srgbClr val="0F172A"/>
                          </a:solidFill>
                          <a:latin typeface="Arial"/>
                        </a:defRPr>
                      </a:pPr>
                      <a:r>
                        <a:t>Saatlar və ya günlər (poçt, kuryer)</a:t>
                      </a:r>
                    </a:p>
                  </a:txBody>
                  <a:tcPr anchor="ctr">
                    <a:solidFill>
                      <a:srgbClr val="F8FAFC"/>
                    </a:solidFill>
                  </a:tcPr>
                </a:tc>
                <a:tc>
                  <a:txBody>
                    <a:bodyPr/>
                    <a:lstStyle/>
                    <a:p>
                      <a:pPr>
                        <a:defRPr sz="1100" b="1">
                          <a:solidFill>
                            <a:srgbClr val="1E3A8A"/>
                          </a:solidFill>
                          <a:latin typeface="Arial"/>
                        </a:defRPr>
                      </a:pPr>
                      <a:r>
                        <a:t>Bir neçə saniyə (real-vaxt rejimində)</a:t>
                      </a:r>
                    </a:p>
                  </a:txBody>
                  <a:tcPr anchor="ctr">
                    <a:solidFill>
                      <a:srgbClr val="F8FAFC"/>
                    </a:solidFill>
                  </a:tcPr>
                </a:tc>
              </a:tr>
              <a:tr h="853440">
                <a:tc>
                  <a:txBody>
                    <a:bodyPr/>
                    <a:lstStyle/>
                    <a:p>
                      <a:pPr>
                        <a:defRPr sz="1100" b="1">
                          <a:solidFill>
                            <a:srgbClr val="0F172A"/>
                          </a:solidFill>
                          <a:latin typeface="Arial"/>
                        </a:defRPr>
                      </a:pPr>
                      <a:r>
                        <a:t>Razılaşdırma (Viza)</a:t>
                      </a:r>
                    </a:p>
                  </a:txBody>
                  <a:tcPr anchor="ctr">
                    <a:solidFill>
                      <a:srgbClr val="FFFFFF"/>
                    </a:solidFill>
                  </a:tcPr>
                </a:tc>
                <a:tc>
                  <a:txBody>
                    <a:bodyPr/>
                    <a:lstStyle/>
                    <a:p>
                      <a:pPr>
                        <a:defRPr sz="1100" b="0">
                          <a:solidFill>
                            <a:srgbClr val="0F172A"/>
                          </a:solidFill>
                          <a:latin typeface="Arial"/>
                        </a:defRPr>
                      </a:pPr>
                      <a:r>
                        <a:t>Otaq-otaq gəzdirilməklə ardıcıl</a:t>
                      </a:r>
                    </a:p>
                  </a:txBody>
                  <a:tcPr anchor="ctr">
                    <a:solidFill>
                      <a:srgbClr val="FFFFFF"/>
                    </a:solidFill>
                  </a:tcPr>
                </a:tc>
                <a:tc>
                  <a:txBody>
                    <a:bodyPr/>
                    <a:lstStyle/>
                    <a:p>
                      <a:pPr>
                        <a:defRPr sz="1100" b="1">
                          <a:solidFill>
                            <a:srgbClr val="1E3A8A"/>
                          </a:solidFill>
                          <a:latin typeface="Arial"/>
                        </a:defRPr>
                      </a:pPr>
                      <a:r>
                        <a:t>Paralel və ya ardıcıl (elektron viza ilə)</a:t>
                      </a:r>
                    </a:p>
                  </a:txBody>
                  <a:tcPr anchor="ctr">
                    <a:solidFill>
                      <a:srgbClr val="FFFFFF"/>
                    </a:solidFill>
                  </a:tcPr>
                </a:tc>
              </a:tr>
              <a:tr h="853440">
                <a:tc>
                  <a:txBody>
                    <a:bodyPr/>
                    <a:lstStyle/>
                    <a:p>
                      <a:pPr>
                        <a:defRPr sz="1100" b="1">
                          <a:solidFill>
                            <a:srgbClr val="0F172A"/>
                          </a:solidFill>
                          <a:latin typeface="Arial"/>
                        </a:defRPr>
                      </a:pPr>
                      <a:r>
                        <a:t>Hüquqi təsdiq</a:t>
                      </a:r>
                    </a:p>
                  </a:txBody>
                  <a:tcPr anchor="ctr">
                    <a:solidFill>
                      <a:srgbClr val="F8FAFC"/>
                    </a:solidFill>
                  </a:tcPr>
                </a:tc>
                <a:tc>
                  <a:txBody>
                    <a:bodyPr/>
                    <a:lstStyle/>
                    <a:p>
                      <a:pPr>
                        <a:defRPr sz="1100" b="0">
                          <a:solidFill>
                            <a:srgbClr val="0F172A"/>
                          </a:solidFill>
                          <a:latin typeface="Arial"/>
                        </a:defRPr>
                      </a:pPr>
                      <a:r>
                        <a:t>Əl imzası və yaş möhür</a:t>
                      </a:r>
                    </a:p>
                  </a:txBody>
                  <a:tcPr anchor="ctr">
                    <a:solidFill>
                      <a:srgbClr val="F8FAFC"/>
                    </a:solidFill>
                  </a:tcPr>
                </a:tc>
                <a:tc>
                  <a:txBody>
                    <a:bodyPr/>
                    <a:lstStyle/>
                    <a:p>
                      <a:pPr>
                        <a:defRPr sz="1100" b="1">
                          <a:solidFill>
                            <a:srgbClr val="1E3A8A"/>
                          </a:solidFill>
                          <a:latin typeface="Arial"/>
                        </a:defRPr>
                      </a:pPr>
                      <a:r>
                        <a:t>Gücləndirilmiş Elektron İmza (ASAN / SİMA)</a:t>
                      </a:r>
                    </a:p>
                  </a:txBody>
                  <a:tcPr anchor="ctr">
                    <a:solidFill>
                      <a:srgbClr val="F8FAFC"/>
                    </a:solidFill>
                  </a:tcPr>
                </a:tc>
              </a:tr>
              <a:tr h="853440">
                <a:tc>
                  <a:txBody>
                    <a:bodyPr/>
                    <a:lstStyle/>
                    <a:p>
                      <a:pPr>
                        <a:defRPr sz="1100" b="1">
                          <a:solidFill>
                            <a:srgbClr val="0F172A"/>
                          </a:solidFill>
                          <a:latin typeface="Arial"/>
                        </a:defRPr>
                      </a:pPr>
                      <a:r>
                        <a:t>İcraya nəzarət</a:t>
                      </a:r>
                    </a:p>
                  </a:txBody>
                  <a:tcPr anchor="ctr">
                    <a:solidFill>
                      <a:srgbClr val="FFFFFF"/>
                    </a:solidFill>
                  </a:tcPr>
                </a:tc>
                <a:tc>
                  <a:txBody>
                    <a:bodyPr/>
                    <a:lstStyle/>
                    <a:p>
                      <a:pPr>
                        <a:defRPr sz="1100" b="0">
                          <a:solidFill>
                            <a:srgbClr val="0F172A"/>
                          </a:solidFill>
                          <a:latin typeface="Arial"/>
                        </a:defRPr>
                      </a:pPr>
                      <a:r>
                        <a:t>Kağız jurnalda əllə yoxlanılır</a:t>
                      </a:r>
                    </a:p>
                  </a:txBody>
                  <a:tcPr anchor="ctr">
                    <a:solidFill>
                      <a:srgbClr val="FFFFFF"/>
                    </a:solidFill>
                  </a:tcPr>
                </a:tc>
                <a:tc>
                  <a:txBody>
                    <a:bodyPr/>
                    <a:lstStyle/>
                    <a:p>
                      <a:pPr>
                        <a:defRPr sz="1100" b="1">
                          <a:solidFill>
                            <a:srgbClr val="1E3A8A"/>
                          </a:solidFill>
                          <a:latin typeface="Arial"/>
                        </a:defRPr>
                      </a:pPr>
                      <a:r>
                        <a:t>Avtomatik bildiriş və son tarix (Deadline)</a:t>
                      </a:r>
                    </a:p>
                  </a:txBody>
                  <a:tcPr anchor="ctr">
                    <a:solidFill>
                      <a:srgbClr val="FFFFFF"/>
                    </a:solidFill>
                  </a:tcPr>
                </a:tc>
              </a:tr>
              <a:tr h="853440">
                <a:tc>
                  <a:txBody>
                    <a:bodyPr/>
                    <a:lstStyle/>
                    <a:p>
                      <a:pPr>
                        <a:defRPr sz="1100" b="1">
                          <a:solidFill>
                            <a:srgbClr val="0F172A"/>
                          </a:solidFill>
                          <a:latin typeface="Arial"/>
                        </a:defRPr>
                      </a:pPr>
                      <a:r>
                        <a:t>Axtarış və Arxiv</a:t>
                      </a:r>
                    </a:p>
                  </a:txBody>
                  <a:tcPr anchor="ctr">
                    <a:solidFill>
                      <a:srgbClr val="F8FAFC"/>
                    </a:solidFill>
                  </a:tcPr>
                </a:tc>
                <a:tc>
                  <a:txBody>
                    <a:bodyPr/>
                    <a:lstStyle/>
                    <a:p>
                      <a:pPr>
                        <a:defRPr sz="1100" b="0">
                          <a:solidFill>
                            <a:srgbClr val="0F172A"/>
                          </a:solidFill>
                          <a:latin typeface="Arial"/>
                        </a:defRPr>
                      </a:pPr>
                      <a:r>
                        <a:t>Qovluqlar içində uzun axtarış</a:t>
                      </a:r>
                    </a:p>
                  </a:txBody>
                  <a:tcPr anchor="ctr">
                    <a:solidFill>
                      <a:srgbClr val="F8FAFC"/>
                    </a:solidFill>
                  </a:tcPr>
                </a:tc>
                <a:tc>
                  <a:txBody>
                    <a:bodyPr/>
                    <a:lstStyle/>
                    <a:p>
                      <a:pPr>
                        <a:defRPr sz="1100" b="1">
                          <a:solidFill>
                            <a:srgbClr val="1E3A8A"/>
                          </a:solidFill>
                          <a:latin typeface="Arial"/>
                        </a:defRPr>
                      </a:pPr>
                      <a:r>
                        <a:t>İndeks, tarix və açar sözlə 1 saniyədə</a:t>
                      </a:r>
                    </a:p>
                  </a:txBody>
                  <a:tcPr anchor="ctr">
                    <a:solidFill>
                      <a:srgbClr val="F8FA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1 · TƏSNİFAT (MƏŞĞƏLƏ 14)</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Elektron sənəd dövriyyəsində tətbiq olunan xidməti sənədlərin 4 funksional qrupu</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04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5440680" cy="251460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5111496" cy="2258568"/>
          </a:xfrm>
          <a:prstGeom prst="rect">
            <a:avLst/>
          </a:prstGeom>
          <a:noFill/>
        </p:spPr>
        <p:txBody>
          <a:bodyPr wrap="square">
            <a:spAutoFit/>
          </a:bodyPr>
          <a:lstStyle/>
          <a:p>
            <a:pPr>
              <a:spcAft>
                <a:spcPts val="600"/>
              </a:spcAft>
              <a:defRPr sz="1300" b="1">
                <a:solidFill>
                  <a:srgbClr val="1E3A8A"/>
                </a:solidFill>
                <a:latin typeface="Arial"/>
              </a:defRPr>
            </a:pPr>
            <a:r>
              <a:t>1. TƏŞKİLATİ SƏNƏDLƏR (Struktur və Hüquqi Baza)</a:t>
            </a:r>
          </a:p>
          <a:p>
            <a:pPr>
              <a:spcAft>
                <a:spcPts val="400"/>
              </a:spcAft>
              <a:defRPr sz="1150">
                <a:solidFill>
                  <a:srgbClr val="0F172A"/>
                </a:solidFill>
                <a:latin typeface="Arial"/>
              </a:defRPr>
            </a:pPr>
            <a:r>
              <a:t>• Plan, Nizamnamə, Hesabat və Müqavilə janrlarını əhatə edir.</a:t>
            </a:r>
          </a:p>
          <a:p>
            <a:pPr>
              <a:spcAft>
                <a:spcPts val="400"/>
              </a:spcAft>
              <a:defRPr sz="1150">
                <a:solidFill>
                  <a:srgbClr val="0F172A"/>
                </a:solidFill>
                <a:latin typeface="Arial"/>
              </a:defRPr>
            </a:pPr>
            <a:r>
              <a:t>• Müqavilə növləri: təchizat, intizam, xidmətlərin göstərilməsi, mənzil icarəsi və alqı-satqı müqaviləsi.</a:t>
            </a:r>
          </a:p>
          <a:p>
            <a:pPr>
              <a:spcAft>
                <a:spcPts val="400"/>
              </a:spcAft>
              <a:defRPr sz="1150">
                <a:solidFill>
                  <a:srgbClr val="0F172A"/>
                </a:solidFill>
                <a:latin typeface="Arial"/>
              </a:defRPr>
            </a:pPr>
            <a:r>
              <a:t>• Müqavilənin 8 məcburi şərti: tərəflərin nümayəndəliyi, predmet, öhdəliklər, hesablaşma qaydası, məsuliyyət, müddət, hüquqi ünvanlar, ödəniş məlumatları.</a:t>
            </a:r>
          </a:p>
        </p:txBody>
      </p:sp>
      <p:sp>
        <p:nvSpPr>
          <p:cNvPr id="13" name="Rounded Rectangle 12"/>
          <p:cNvSpPr/>
          <p:nvPr/>
        </p:nvSpPr>
        <p:spPr>
          <a:xfrm>
            <a:off x="6199632" y="960120"/>
            <a:ext cx="5440680" cy="251460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1088136"/>
            <a:ext cx="5111496" cy="2258568"/>
          </a:xfrm>
          <a:prstGeom prst="rect">
            <a:avLst/>
          </a:prstGeom>
          <a:noFill/>
        </p:spPr>
        <p:txBody>
          <a:bodyPr wrap="square">
            <a:spAutoFit/>
          </a:bodyPr>
          <a:lstStyle/>
          <a:p>
            <a:pPr>
              <a:spcAft>
                <a:spcPts val="600"/>
              </a:spcAft>
              <a:defRPr sz="1300" b="1">
                <a:solidFill>
                  <a:srgbClr val="1E3A8A"/>
                </a:solidFill>
                <a:latin typeface="Arial"/>
              </a:defRPr>
            </a:pPr>
            <a:r>
              <a:t>2. İNZİBATİ SƏNƏDLƏR (Şaquli İdarəetmə)</a:t>
            </a:r>
          </a:p>
          <a:p>
            <a:pPr>
              <a:spcAft>
                <a:spcPts val="400"/>
              </a:spcAft>
              <a:defRPr sz="1150">
                <a:solidFill>
                  <a:srgbClr val="0F172A"/>
                </a:solidFill>
                <a:latin typeface="Arial"/>
              </a:defRPr>
            </a:pPr>
            <a:r>
              <a:t>• Obyektlərin şaquli idarə olunmasını həyata keçirir və rəhbərin hərəkətlərinə hüquqi qüvvə verir (Fərman, Qərar, Sərəncam, Göstəriş).</a:t>
            </a:r>
          </a:p>
          <a:p>
            <a:pPr>
              <a:spcAft>
                <a:spcPts val="400"/>
              </a:spcAft>
              <a:defRPr sz="1150">
                <a:solidFill>
                  <a:srgbClr val="0F172A"/>
                </a:solidFill>
                <a:latin typeface="Arial"/>
              </a:defRPr>
            </a:pPr>
            <a:r>
              <a:t>• Mətni 2 hissədən ibarətdir: 1) Təsdiqləyici (konstatasiya) hissə — səbəb və əsaslar; 2) İnzibati hissə — əmr və tapşırıqlar.</a:t>
            </a:r>
          </a:p>
          <a:p>
            <a:pPr>
              <a:spcAft>
                <a:spcPts val="400"/>
              </a:spcAft>
              <a:defRPr sz="1150">
                <a:solidFill>
                  <a:srgbClr val="0F172A"/>
                </a:solidFill>
                <a:latin typeface="Arial"/>
              </a:defRPr>
            </a:pPr>
            <a:r>
              <a:t>• Fərman normativ xarakter daşıyır, Sərəncam isə konkret operativ hadisə barəsində verilir.</a:t>
            </a:r>
          </a:p>
        </p:txBody>
      </p:sp>
      <p:sp>
        <p:nvSpPr>
          <p:cNvPr id="15" name="Rounded Rectangle 14"/>
          <p:cNvSpPr/>
          <p:nvPr/>
        </p:nvSpPr>
        <p:spPr>
          <a:xfrm>
            <a:off x="548640" y="3657600"/>
            <a:ext cx="5440680" cy="246888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785615"/>
            <a:ext cx="5111496" cy="2212848"/>
          </a:xfrm>
          <a:prstGeom prst="rect">
            <a:avLst/>
          </a:prstGeom>
          <a:noFill/>
        </p:spPr>
        <p:txBody>
          <a:bodyPr wrap="square">
            <a:spAutoFit/>
          </a:bodyPr>
          <a:lstStyle/>
          <a:p>
            <a:pPr>
              <a:spcAft>
                <a:spcPts val="600"/>
              </a:spcAft>
              <a:defRPr sz="1300" b="1">
                <a:solidFill>
                  <a:srgbClr val="1E3A8A"/>
                </a:solidFill>
                <a:latin typeface="Arial"/>
              </a:defRPr>
            </a:pPr>
            <a:r>
              <a:t>3. İSTİNAD VƏ ANALİTİK SƏNƏDLƏR (Mövzu 14–15)</a:t>
            </a:r>
          </a:p>
          <a:p>
            <a:pPr>
              <a:spcAft>
                <a:spcPts val="400"/>
              </a:spcAft>
              <a:defRPr sz="1150">
                <a:solidFill>
                  <a:srgbClr val="0F172A"/>
                </a:solidFill>
                <a:latin typeface="Arial"/>
              </a:defRPr>
            </a:pPr>
            <a:r>
              <a:t>• Akt və Arayış — faktiki vəziyyəti, hadisəni və ya şəxsin statusunu təsdiqləyir (giriş və əsas hissədən ibarətdir).</a:t>
            </a:r>
          </a:p>
          <a:p>
            <a:pPr>
              <a:spcAft>
                <a:spcPts val="400"/>
              </a:spcAft>
              <a:defRPr sz="1150">
                <a:solidFill>
                  <a:srgbClr val="0F172A"/>
                </a:solidFill>
                <a:latin typeface="Arial"/>
              </a:defRPr>
            </a:pPr>
            <a:r>
              <a:t>• Xidməti qeyd — təşkilatın bərabər statuslu bölmələri arasında üfüqi əlaqəni təmin edir.</a:t>
            </a:r>
          </a:p>
          <a:p>
            <a:pPr>
              <a:spcAft>
                <a:spcPts val="400"/>
              </a:spcAft>
              <a:defRPr sz="1150">
                <a:solidFill>
                  <a:srgbClr val="0F172A"/>
                </a:solidFill>
                <a:latin typeface="Arial"/>
              </a:defRPr>
            </a:pPr>
            <a:r>
              <a:t>• Analitik qeyd və Hesabat qeydi — problemi təhlil edib rəhbərliyə həll təklifi verir (daxili və xarici).</a:t>
            </a:r>
          </a:p>
        </p:txBody>
      </p:sp>
      <p:sp>
        <p:nvSpPr>
          <p:cNvPr id="17" name="Rounded Rectangle 16"/>
          <p:cNvSpPr/>
          <p:nvPr/>
        </p:nvSpPr>
        <p:spPr>
          <a:xfrm>
            <a:off x="6199632" y="3657600"/>
            <a:ext cx="5440680" cy="246888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785615"/>
            <a:ext cx="5111496" cy="2212848"/>
          </a:xfrm>
          <a:prstGeom prst="rect">
            <a:avLst/>
          </a:prstGeom>
          <a:noFill/>
        </p:spPr>
        <p:txBody>
          <a:bodyPr wrap="square">
            <a:spAutoFit/>
          </a:bodyPr>
          <a:lstStyle/>
          <a:p>
            <a:pPr>
              <a:spcAft>
                <a:spcPts val="600"/>
              </a:spcAft>
              <a:defRPr sz="1300" b="1">
                <a:solidFill>
                  <a:srgbClr val="1E3A8A"/>
                </a:solidFill>
                <a:latin typeface="Arial"/>
              </a:defRPr>
            </a:pPr>
            <a:r>
              <a:t>4. RƏSMİ MƏKTUBLAR VƏ MALİYYƏ SƏNƏDLƏRİ</a:t>
            </a:r>
          </a:p>
          <a:p>
            <a:pPr>
              <a:spcAft>
                <a:spcPts val="400"/>
              </a:spcAft>
              <a:defRPr sz="1150">
                <a:solidFill>
                  <a:srgbClr val="0F172A"/>
                </a:solidFill>
                <a:latin typeface="Arial"/>
              </a:defRPr>
            </a:pPr>
            <a:r>
              <a:t>• Ticarət yazışmaları: sorğu məktubu, təklif (oferta), iddia (reklamasiya) və cavab məktubları.</a:t>
            </a:r>
          </a:p>
          <a:p>
            <a:pPr>
              <a:spcAft>
                <a:spcPts val="400"/>
              </a:spcAft>
              <a:defRPr sz="1150">
                <a:solidFill>
                  <a:srgbClr val="0F172A"/>
                </a:solidFill>
                <a:latin typeface="Arial"/>
              </a:defRPr>
            </a:pPr>
            <a:r>
              <a:t>• Qeyri-kommersiya məktubları: dəvətnamə, təbrik, təşəkkür və zəmanət məktubları.</a:t>
            </a:r>
          </a:p>
          <a:p>
            <a:pPr>
              <a:spcAft>
                <a:spcPts val="400"/>
              </a:spcAft>
              <a:defRPr sz="1150">
                <a:solidFill>
                  <a:srgbClr val="0F172A"/>
                </a:solidFill>
                <a:latin typeface="Arial"/>
              </a:defRPr>
            </a:pPr>
            <a:r>
              <a:t>• Maliyyə və mühasibat: elektron qaimə-faktura, təhvil-təslim aktı, smeta və büdcə hesabatları.</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2 · HÜQUQİ BAZA VƏ İMZA</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Qanunvericilik əsasları və Azərbaycanın Milli ESD ekosistemi</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05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11094415" cy="1143000"/>
          </a:xfrm>
          <a:prstGeom prst="roundRect">
            <a:avLst>
              <a:gd name="adj" fmla="val 3000"/>
            </a:avLst>
          </a:prstGeom>
          <a:solidFill>
            <a:srgbClr val="FEFCE8"/>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10765231" cy="886968"/>
          </a:xfrm>
          <a:prstGeom prst="rect">
            <a:avLst/>
          </a:prstGeom>
          <a:noFill/>
        </p:spPr>
        <p:txBody>
          <a:bodyPr wrap="square">
            <a:spAutoFit/>
          </a:bodyPr>
          <a:lstStyle/>
          <a:p>
            <a:pPr>
              <a:spcAft>
                <a:spcPts val="600"/>
              </a:spcAft>
              <a:defRPr sz="1350" b="1">
                <a:solidFill>
                  <a:srgbClr val="B45309"/>
                </a:solidFill>
                <a:latin typeface="Arial"/>
              </a:defRPr>
            </a:pPr>
            <a:r>
              <a:t>⚖️ «Elektron imza və elektron sənəd haqqında» Azərbaycan Respublikasının Qanunu</a:t>
            </a:r>
          </a:p>
          <a:p>
            <a:pPr>
              <a:spcAft>
                <a:spcPts val="400"/>
              </a:spcAft>
              <a:defRPr sz="1200">
                <a:solidFill>
                  <a:srgbClr val="0F172A"/>
                </a:solidFill>
                <a:latin typeface="Arial"/>
              </a:defRPr>
            </a:pPr>
            <a:r>
              <a:t>Maddə 3: Elektron sənəd kağız daşıyıcıda olan və əl imzası (möhür) ilə təsdiqlənmiş sənədlə EYNİ HÜQUQİ QÜVVƏYƏ malikdir. Elektron sənədin həqiqiliyi sertifikatlaşdırılmış elektron imza vasitələri (ASAN İmza, SİMA İmza) və zaman möhürü ilə təmin edilir.</a:t>
            </a:r>
          </a:p>
        </p:txBody>
      </p:sp>
      <p:sp>
        <p:nvSpPr>
          <p:cNvPr id="13" name="Rounded Rectangle 12"/>
          <p:cNvSpPr/>
          <p:nvPr/>
        </p:nvSpPr>
        <p:spPr>
          <a:xfrm>
            <a:off x="548640" y="2331720"/>
            <a:ext cx="3547872" cy="37947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2459736"/>
            <a:ext cx="3218688" cy="3538728"/>
          </a:xfrm>
          <a:prstGeom prst="rect">
            <a:avLst/>
          </a:prstGeom>
          <a:noFill/>
        </p:spPr>
        <p:txBody>
          <a:bodyPr wrap="square">
            <a:spAutoFit/>
          </a:bodyPr>
          <a:lstStyle/>
          <a:p>
            <a:pPr>
              <a:spcAft>
                <a:spcPts val="600"/>
              </a:spcAft>
              <a:defRPr sz="1350" b="1">
                <a:solidFill>
                  <a:srgbClr val="1E3A8A"/>
                </a:solidFill>
                <a:latin typeface="Arial"/>
              </a:defRPr>
            </a:pPr>
            <a:r>
              <a:t>🏛️ Rəqəmsal Sənəd Dövriyyəsi (RSD)</a:t>
            </a:r>
          </a:p>
          <a:p>
            <a:pPr>
              <a:spcAft>
                <a:spcPts val="400"/>
              </a:spcAft>
              <a:defRPr sz="1200">
                <a:solidFill>
                  <a:srgbClr val="0F172A"/>
                </a:solidFill>
                <a:latin typeface="Arial"/>
              </a:defRPr>
            </a:pPr>
            <a:r>
              <a:t>• AR Prezidentinin Fərmanı ilə yaradılmış dövlət altsistemidir.</a:t>
            </a:r>
          </a:p>
          <a:p>
            <a:pPr>
              <a:spcAft>
                <a:spcPts val="400"/>
              </a:spcAft>
              <a:defRPr sz="1200">
                <a:solidFill>
                  <a:srgbClr val="0F172A"/>
                </a:solidFill>
                <a:latin typeface="Arial"/>
              </a:defRPr>
            </a:pPr>
            <a:r>
              <a:t>• Dövlət orqanları, universitetlər və müəssisələr arasında real-vaxt rejimində kağızsız mübadiləni təmin edir.</a:t>
            </a:r>
          </a:p>
          <a:p>
            <a:pPr>
              <a:spcAft>
                <a:spcPts val="400"/>
              </a:spcAft>
              <a:defRPr sz="1200">
                <a:solidFill>
                  <a:srgbClr val="0F172A"/>
                </a:solidFill>
                <a:latin typeface="Arial"/>
              </a:defRPr>
            </a:pPr>
            <a:r>
              <a:t>• Nəticə: Qurumlararası rəsmi yazışma müddəti 5 gündən 5 dəqiqəyə enmişdir.</a:t>
            </a:r>
          </a:p>
        </p:txBody>
      </p:sp>
      <p:sp>
        <p:nvSpPr>
          <p:cNvPr id="15" name="Rounded Rectangle 14"/>
          <p:cNvSpPr/>
          <p:nvPr/>
        </p:nvSpPr>
        <p:spPr>
          <a:xfrm>
            <a:off x="4315968" y="2331720"/>
            <a:ext cx="3547872" cy="379476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80559" y="2459736"/>
            <a:ext cx="3218688" cy="3538728"/>
          </a:xfrm>
          <a:prstGeom prst="rect">
            <a:avLst/>
          </a:prstGeom>
          <a:noFill/>
        </p:spPr>
        <p:txBody>
          <a:bodyPr wrap="square">
            <a:spAutoFit/>
          </a:bodyPr>
          <a:lstStyle/>
          <a:p>
            <a:pPr>
              <a:spcAft>
                <a:spcPts val="600"/>
              </a:spcAft>
              <a:defRPr sz="1350" b="1">
                <a:solidFill>
                  <a:srgbClr val="1E3A8A"/>
                </a:solidFill>
                <a:latin typeface="Arial"/>
              </a:defRPr>
            </a:pPr>
            <a:r>
              <a:t>📱 ASAN İmza və SİMA İmza</a:t>
            </a:r>
          </a:p>
          <a:p>
            <a:pPr>
              <a:spcAft>
                <a:spcPts val="400"/>
              </a:spcAft>
              <a:defRPr sz="1200">
                <a:solidFill>
                  <a:srgbClr val="0F172A"/>
                </a:solidFill>
                <a:latin typeface="Arial"/>
              </a:defRPr>
            </a:pPr>
            <a:r>
              <a:t>• ASAN İmza — mobil SİM-kart üzərində işləyən dövlət elektron imzasıdır.</a:t>
            </a:r>
          </a:p>
          <a:p>
            <a:pPr>
              <a:spcAft>
                <a:spcPts val="400"/>
              </a:spcAft>
              <a:defRPr sz="1200">
                <a:solidFill>
                  <a:srgbClr val="0F172A"/>
                </a:solidFill>
                <a:latin typeface="Arial"/>
              </a:defRPr>
            </a:pPr>
            <a:r>
              <a:t>• SİMA İmza — biometrik üz tanıma və açıq açar (PKI) kriptoqrafiyası üzərində işləyən yeni nəsil bulud imzasıdır.</a:t>
            </a:r>
          </a:p>
          <a:p>
            <a:pPr>
              <a:spcAft>
                <a:spcPts val="400"/>
              </a:spcAft>
              <a:defRPr sz="1200">
                <a:solidFill>
                  <a:srgbClr val="0F172A"/>
                </a:solidFill>
                <a:latin typeface="Arial"/>
              </a:defRPr>
            </a:pPr>
            <a:r>
              <a:t>• İmza sahibini 100% eyniləşdirir və sənədin toxunulmazlığını qoruyur.</a:t>
            </a:r>
          </a:p>
        </p:txBody>
      </p:sp>
      <p:sp>
        <p:nvSpPr>
          <p:cNvPr id="17" name="Rounded Rectangle 16"/>
          <p:cNvSpPr/>
          <p:nvPr/>
        </p:nvSpPr>
        <p:spPr>
          <a:xfrm>
            <a:off x="8092440" y="2331720"/>
            <a:ext cx="3547872" cy="37947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1" y="2459736"/>
            <a:ext cx="3218688" cy="3538728"/>
          </a:xfrm>
          <a:prstGeom prst="rect">
            <a:avLst/>
          </a:prstGeom>
          <a:noFill/>
        </p:spPr>
        <p:txBody>
          <a:bodyPr wrap="square">
            <a:spAutoFit/>
          </a:bodyPr>
          <a:lstStyle/>
          <a:p>
            <a:pPr>
              <a:spcAft>
                <a:spcPts val="600"/>
              </a:spcAft>
              <a:defRPr sz="1350" b="1">
                <a:solidFill>
                  <a:srgbClr val="1E3A8A"/>
                </a:solidFill>
                <a:latin typeface="Arial"/>
              </a:defRPr>
            </a:pPr>
            <a:r>
              <a:t>🇦🇿 Dövlət Dili haqqında Qanun</a:t>
            </a:r>
          </a:p>
          <a:p>
            <a:pPr>
              <a:spcAft>
                <a:spcPts val="400"/>
              </a:spcAft>
              <a:defRPr sz="1200">
                <a:solidFill>
                  <a:srgbClr val="0F172A"/>
                </a:solidFill>
                <a:latin typeface="Arial"/>
              </a:defRPr>
            </a:pPr>
            <a:r>
              <a:t>• Bütün elektron rəsmi və işgüzar sənədlər dövlət dilində — Azərbaycan ədəbi dilinin normalarına uyğun tərtib edilməlidir.</a:t>
            </a:r>
          </a:p>
          <a:p>
            <a:pPr>
              <a:spcAft>
                <a:spcPts val="400"/>
              </a:spcAft>
              <a:defRPr sz="1200">
                <a:solidFill>
                  <a:srgbClr val="0F172A"/>
                </a:solidFill>
                <a:latin typeface="Arial"/>
              </a:defRPr>
            </a:pPr>
            <a:r>
              <a:t>• Unicode (UTF-8) standartı ilə «ə, ı, ö, ü, ç, ş, ğ» hərflərinin düzgün yazılışı məcburidir.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3 · HAZIRLANMA QAYDALARI</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Elektron sənədin strukturu və tələb olunan 7 məcburi elementi (Dərs vəsaiti, səh. 129)</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06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5669280" cy="51663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5340096" cy="4910328"/>
          </a:xfrm>
          <a:prstGeom prst="rect">
            <a:avLst/>
          </a:prstGeom>
          <a:noFill/>
        </p:spPr>
        <p:txBody>
          <a:bodyPr wrap="square">
            <a:spAutoFit/>
          </a:bodyPr>
          <a:lstStyle/>
          <a:p>
            <a:pPr>
              <a:spcAft>
                <a:spcPts val="600"/>
              </a:spcAft>
              <a:defRPr sz="1300" b="1">
                <a:solidFill>
                  <a:srgbClr val="1E3A8A"/>
                </a:solidFill>
                <a:latin typeface="Arial"/>
              </a:defRPr>
            </a:pPr>
            <a:r>
              <a:t>Xidməti və Elektron Sənədin 7 Məcburi Elementi</a:t>
            </a:r>
          </a:p>
          <a:p>
            <a:pPr>
              <a:spcAft>
                <a:spcPts val="400"/>
              </a:spcAft>
              <a:defRPr sz="1150">
                <a:solidFill>
                  <a:srgbClr val="0F172A"/>
                </a:solidFill>
                <a:latin typeface="Arial"/>
              </a:defRPr>
            </a:pPr>
            <a:r>
              <a:t>1. Rəsmi elektron blank (Qurumun tam adı, loqosu/gerbi və əlaqə sətri);</a:t>
            </a:r>
          </a:p>
          <a:p>
            <a:pPr>
              <a:spcAft>
                <a:spcPts val="400"/>
              </a:spcAft>
              <a:defRPr sz="1150">
                <a:solidFill>
                  <a:srgbClr val="0F172A"/>
                </a:solidFill>
                <a:latin typeface="Arial"/>
              </a:defRPr>
            </a:pPr>
            <a:r>
              <a:t>2. Kimə ünvanlandığını göstərən «Başlıq» (vəzifənin adı, soyadı, adı, ata adı);</a:t>
            </a:r>
          </a:p>
          <a:p>
            <a:pPr>
              <a:spcAft>
                <a:spcPts val="400"/>
              </a:spcAft>
              <a:defRPr sz="1150">
                <a:solidFill>
                  <a:srgbClr val="0F172A"/>
                </a:solidFill>
                <a:latin typeface="Arial"/>
              </a:defRPr>
            </a:pPr>
            <a:r>
              <a:t>3. Sənədin tərtib tarixi və qeydiyyat nömrəsi (avtomatik indeks və Zaman möhürü);</a:t>
            </a:r>
          </a:p>
          <a:p>
            <a:pPr>
              <a:spcAft>
                <a:spcPts val="400"/>
              </a:spcAft>
              <a:defRPr sz="1150">
                <a:solidFill>
                  <a:srgbClr val="0F172A"/>
                </a:solidFill>
                <a:latin typeface="Arial"/>
              </a:defRPr>
            </a:pPr>
            <a:r>
              <a:t>4. Sənədin növünün adı (mərkəzdə böyük hərflərlə: SƏRƏNCAM, QƏRAR, ARAYIŞ, XİDMƏTİ QEYD);</a:t>
            </a:r>
          </a:p>
          <a:p>
            <a:pPr>
              <a:spcAft>
                <a:spcPts val="400"/>
              </a:spcAft>
              <a:defRPr sz="1150">
                <a:solidFill>
                  <a:srgbClr val="0F172A"/>
                </a:solidFill>
                <a:latin typeface="Arial"/>
              </a:defRPr>
            </a:pPr>
            <a:r>
              <a:t>5. Sənədin mətninə başlıq (müraciətin və ya memorandumun mövzusu — «... haqqında»);</a:t>
            </a:r>
          </a:p>
          <a:p>
            <a:pPr>
              <a:spcAft>
                <a:spcPts val="400"/>
              </a:spcAft>
              <a:defRPr sz="1150">
                <a:solidFill>
                  <a:srgbClr val="0F172A"/>
                </a:solidFill>
                <a:latin typeface="Arial"/>
              </a:defRPr>
            </a:pPr>
            <a:r>
              <a:t>6. Sənədin əsas mətni (təsdiqləyici/konstatasiya və inzibati/təklif hissələri);</a:t>
            </a:r>
          </a:p>
          <a:p>
            <a:pPr>
              <a:spcAft>
                <a:spcPts val="400"/>
              </a:spcAft>
              <a:defRPr sz="1150">
                <a:solidFill>
                  <a:srgbClr val="0F172A"/>
                </a:solidFill>
                <a:latin typeface="Arial"/>
              </a:defRPr>
            </a:pPr>
            <a:r>
              <a:t>7. Tərtibçinin mövqeyi (vəzifəsi), elektron imzası, dekodlanması (soyadı, adı, atasının adı) və QR verifikasiya kodu.</a:t>
            </a:r>
          </a:p>
        </p:txBody>
      </p:sp>
      <p:sp>
        <p:nvSpPr>
          <p:cNvPr id="13" name="Rounded Rectangle 12"/>
          <p:cNvSpPr/>
          <p:nvPr/>
        </p:nvSpPr>
        <p:spPr>
          <a:xfrm>
            <a:off x="6446520" y="960120"/>
            <a:ext cx="5193792" cy="516636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11112" y="1088136"/>
            <a:ext cx="4864607" cy="4910328"/>
          </a:xfrm>
          <a:prstGeom prst="rect">
            <a:avLst/>
          </a:prstGeom>
          <a:noFill/>
        </p:spPr>
        <p:txBody>
          <a:bodyPr wrap="square">
            <a:spAutoFit/>
          </a:bodyPr>
          <a:lstStyle/>
          <a:p>
            <a:pPr>
              <a:spcAft>
                <a:spcPts val="600"/>
              </a:spcAft>
              <a:defRPr sz="1250" b="1">
                <a:solidFill>
                  <a:srgbClr val="1E3A8A"/>
                </a:solidFill>
                <a:latin typeface="Arial"/>
              </a:defRPr>
            </a:pPr>
            <a:r>
              <a:t>📄 Elektron Sənəd Vərəqinin Standart Sxemi</a:t>
            </a:r>
          </a:p>
          <a:p>
            <a:pPr>
              <a:spcAft>
                <a:spcPts val="400"/>
              </a:spcAft>
              <a:defRPr sz="1100">
                <a:solidFill>
                  <a:srgbClr val="0F172A"/>
                </a:solidFill>
                <a:latin typeface="Arial"/>
              </a:defRPr>
            </a:pPr>
            <a:r>
              <a:t>[1] AZƏRBAYCAN TEXNİKİ UNİVERSİTETİ (Rəsmi Blank)</a:t>
            </a:r>
          </a:p>
          <a:p>
            <a:pPr>
              <a:spcAft>
                <a:spcPts val="400"/>
              </a:spcAft>
              <a:defRPr sz="1100">
                <a:solidFill>
                  <a:srgbClr val="0F172A"/>
                </a:solidFill>
                <a:latin typeface="Arial"/>
              </a:defRPr>
            </a:pPr>
            <a:r>
              <a:t>-------------------------------------------------------------------------</a:t>
            </a:r>
          </a:p>
          <a:p>
            <a:pPr>
              <a:spcAft>
                <a:spcPts val="400"/>
              </a:spcAft>
              <a:defRPr sz="1100">
                <a:solidFill>
                  <a:srgbClr val="0F172A"/>
                </a:solidFill>
                <a:latin typeface="Arial"/>
              </a:defRPr>
            </a:pPr>
            <a:r>
              <a:t>[3] № ESD-2026/6326-04             [2] Kimə: İTT fakültəsinin</a:t>
            </a:r>
          </a:p>
          <a:p>
            <a:pPr>
              <a:spcAft>
                <a:spcPts val="400"/>
              </a:spcAft>
              <a:defRPr sz="1100">
                <a:solidFill>
                  <a:srgbClr val="0F172A"/>
                </a:solidFill>
                <a:latin typeface="Arial"/>
              </a:defRPr>
            </a:pPr>
            <a:r>
              <a:t>    Tarix: 30.09.2026 · 14:30                dekanlığına (S.A.A.)</a:t>
            </a:r>
          </a:p>
          <a:p>
            <a:pPr>
              <a:spcAft>
                <a:spcPts val="400"/>
              </a:spcAft>
              <a:defRPr sz="1100">
                <a:solidFill>
                  <a:srgbClr val="0F172A"/>
                </a:solidFill>
                <a:latin typeface="Arial"/>
              </a:defRPr>
            </a:pPr>
            <a:r>
              <a:t>-------------------------------------------------------------------------</a:t>
            </a:r>
          </a:p>
          <a:p>
            <a:pPr>
              <a:spcAft>
                <a:spcPts val="400"/>
              </a:spcAft>
              <a:defRPr sz="1100">
                <a:solidFill>
                  <a:srgbClr val="0F172A"/>
                </a:solidFill>
                <a:latin typeface="Arial"/>
              </a:defRPr>
            </a:pPr>
            <a:r>
              <a:t>                    [4] X İ D M Ə T İ   Q E Y D</a:t>
            </a:r>
          </a:p>
          <a:p>
            <a:pPr>
              <a:spcAft>
                <a:spcPts val="400"/>
              </a:spcAft>
              <a:defRPr sz="1100">
                <a:solidFill>
                  <a:srgbClr val="0F172A"/>
                </a:solidFill>
                <a:latin typeface="Arial"/>
              </a:defRPr>
            </a:pPr>
            <a:r>
              <a:t>[5] Mövzu: Elektron sənəd dövriyyəsi sisteminin tətbiqi barədə</a:t>
            </a:r>
          </a:p>
          <a:p>
            <a:pPr>
              <a:spcAft>
                <a:spcPts val="400"/>
              </a:spcAft>
              <a:defRPr sz="1100">
                <a:solidFill>
                  <a:srgbClr val="0F172A"/>
                </a:solidFill>
                <a:latin typeface="Arial"/>
              </a:defRPr>
            </a:pPr>
          </a:p>
          <a:p>
            <a:pPr>
              <a:spcAft>
                <a:spcPts val="400"/>
              </a:spcAft>
              <a:defRPr sz="1100">
                <a:solidFill>
                  <a:srgbClr val="0F172A"/>
                </a:solidFill>
                <a:latin typeface="Arial"/>
              </a:defRPr>
            </a:pPr>
            <a:r>
              <a:t>[6] I. Konstatasiya hissəsi: Sənədin tərtib edilmə səbəbi və əsasları («... əsaslanaraq, bununla əlaqədar»).</a:t>
            </a:r>
          </a:p>
          <a:p>
            <a:pPr>
              <a:spcAft>
                <a:spcPts val="400"/>
              </a:spcAft>
              <a:defRPr sz="1100">
                <a:solidFill>
                  <a:srgbClr val="0F172A"/>
                </a:solidFill>
                <a:latin typeface="Arial"/>
              </a:defRPr>
            </a:pPr>
            <a:r>
              <a:t>    II. İnzibati / Təklif hissəsi: Dəqiq bəndlərlə («1. Tapşırılsın...», «2. Təmin edilsin...») ifadə olunan icra öhdəlikləri.</a:t>
            </a:r>
          </a:p>
          <a:p>
            <a:pPr>
              <a:spcAft>
                <a:spcPts val="400"/>
              </a:spcAft>
              <a:defRPr sz="1100">
                <a:solidFill>
                  <a:srgbClr val="0F172A"/>
                </a:solidFill>
                <a:latin typeface="Arial"/>
              </a:defRPr>
            </a:pPr>
            <a:r>
              <a:t>-------------------------------------------------------------------------</a:t>
            </a:r>
          </a:p>
          <a:p>
            <a:pPr>
              <a:spcAft>
                <a:spcPts val="400"/>
              </a:spcAft>
              <a:defRPr sz="1100">
                <a:solidFill>
                  <a:srgbClr val="0F172A"/>
                </a:solidFill>
                <a:latin typeface="Arial"/>
              </a:defRPr>
            </a:pPr>
            <a:r>
              <a:t>[7] Vəzifə və Dekodlanma: Səfərli E.   |   🔏 SİMA İmza + [QR]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3 · DİL VƏ ÜSLUB NORMALARI</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Janr orijinallığı və elektron mətnin bölmələrə ayrılması qaydaları (Məşğələ 14, Slayd 7–8)</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07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5303520" cy="516636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4974336" cy="4910328"/>
          </a:xfrm>
          <a:prstGeom prst="rect">
            <a:avLst/>
          </a:prstGeom>
          <a:noFill/>
        </p:spPr>
        <p:txBody>
          <a:bodyPr wrap="square">
            <a:spAutoFit/>
          </a:bodyPr>
          <a:lstStyle/>
          <a:p>
            <a:pPr>
              <a:spcAft>
                <a:spcPts val="600"/>
              </a:spcAft>
              <a:defRPr sz="1300" b="1">
                <a:solidFill>
                  <a:srgbClr val="1E3A8A"/>
                </a:solidFill>
                <a:latin typeface="Arial"/>
              </a:defRPr>
            </a:pPr>
            <a:r>
              <a:t>Təşkilati-İnzibati Sənədlərin 3 Janr Orijinallığı</a:t>
            </a:r>
          </a:p>
          <a:p>
            <a:pPr>
              <a:spcAft>
                <a:spcPts val="400"/>
              </a:spcAft>
              <a:defRPr sz="1150">
                <a:solidFill>
                  <a:srgbClr val="0F172A"/>
                </a:solidFill>
                <a:latin typeface="Arial"/>
              </a:defRPr>
            </a:pPr>
            <a:r>
              <a:t>01. CİDDİ FORMA VƏ ARDICILLIQ:</a:t>
            </a:r>
          </a:p>
          <a:p>
            <a:pPr>
              <a:spcAft>
                <a:spcPts val="400"/>
              </a:spcAft>
              <a:defRPr sz="1150">
                <a:solidFill>
                  <a:srgbClr val="0F172A"/>
                </a:solidFill>
                <a:latin typeface="Arial"/>
              </a:defRPr>
            </a:pPr>
            <a:r>
              <a:t>    Təfərrüatların (rekvizitlərin) və mətnin əhəmiyyətli hissələrinin yerləşdirilməsinin dəyişməz məcmusu və ardıcıllığı.</a:t>
            </a:r>
          </a:p>
          <a:p>
            <a:pPr>
              <a:spcAft>
                <a:spcPts val="400"/>
              </a:spcAft>
              <a:defRPr sz="1150">
                <a:solidFill>
                  <a:srgbClr val="0F172A"/>
                </a:solidFill>
                <a:latin typeface="Arial"/>
              </a:defRPr>
            </a:pPr>
          </a:p>
          <a:p>
            <a:pPr>
              <a:spcAft>
                <a:spcPts val="400"/>
              </a:spcAft>
              <a:defRPr sz="1150">
                <a:solidFill>
                  <a:srgbClr val="0F172A"/>
                </a:solidFill>
                <a:latin typeface="Arial"/>
              </a:defRPr>
            </a:pPr>
            <a:r>
              <a:t>02. DƏSTƏKLƏYİCİ (DAYAQ) SÖZLƏRİN OLMASI:</a:t>
            </a:r>
          </a:p>
          <a:p>
            <a:pPr>
              <a:spcAft>
                <a:spcPts val="400"/>
              </a:spcAft>
              <a:defRPr sz="1150">
                <a:solidFill>
                  <a:srgbClr val="0F172A"/>
                </a:solidFill>
                <a:latin typeface="Arial"/>
              </a:defRPr>
            </a:pPr>
            <a:r>
              <a:t>    Sənədin mərkəzi ifadəsinin dizaynını təyin edən açar sözlər: «buna uyğun olaraq», «bununla əlaqədar», «tapşırılsın», «təklif olunsun», «təsdiq olunsun», «məcburi», «sifariş».</a:t>
            </a:r>
          </a:p>
          <a:p>
            <a:pPr>
              <a:spcAft>
                <a:spcPts val="400"/>
              </a:spcAft>
              <a:defRPr sz="1150">
                <a:solidFill>
                  <a:srgbClr val="0F172A"/>
                </a:solidFill>
                <a:latin typeface="Arial"/>
              </a:defRPr>
            </a:pPr>
          </a:p>
          <a:p>
            <a:pPr>
              <a:spcAft>
                <a:spcPts val="400"/>
              </a:spcAft>
              <a:defRPr sz="1150">
                <a:solidFill>
                  <a:srgbClr val="0F172A"/>
                </a:solidFill>
                <a:latin typeface="Arial"/>
              </a:defRPr>
            </a:pPr>
            <a:r>
              <a:t>03. TƏLƏB OLUNAN RUBRİKANIN OLMASI:</a:t>
            </a:r>
          </a:p>
          <a:p>
            <a:pPr>
              <a:spcAft>
                <a:spcPts val="400"/>
              </a:spcAft>
              <a:defRPr sz="1150">
                <a:solidFill>
                  <a:srgbClr val="0F172A"/>
                </a:solidFill>
                <a:latin typeface="Arial"/>
              </a:defRPr>
            </a:pPr>
            <a:r>
              <a:t>    Nizamnamənin müddəalarını, plan və hesabatın bəndlərini, müqavilənin öhdəlikləri və hüquqlarını sadalayarkən aydın rubrikaların qorunması.</a:t>
            </a:r>
          </a:p>
        </p:txBody>
      </p:sp>
      <p:sp>
        <p:nvSpPr>
          <p:cNvPr id="13" name="Rounded Rectangle 12"/>
          <p:cNvSpPr/>
          <p:nvPr/>
        </p:nvSpPr>
        <p:spPr>
          <a:xfrm>
            <a:off x="6080760" y="960120"/>
            <a:ext cx="5559552" cy="51663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45352" y="1088136"/>
            <a:ext cx="5230368" cy="4910328"/>
          </a:xfrm>
          <a:prstGeom prst="rect">
            <a:avLst/>
          </a:prstGeom>
          <a:noFill/>
        </p:spPr>
        <p:txBody>
          <a:bodyPr wrap="square">
            <a:spAutoFit/>
          </a:bodyPr>
          <a:lstStyle/>
          <a:p>
            <a:pPr>
              <a:spcAft>
                <a:spcPts val="600"/>
              </a:spcAft>
              <a:defRPr sz="1300" b="1">
                <a:solidFill>
                  <a:srgbClr val="1E3A8A"/>
                </a:solidFill>
                <a:latin typeface="Arial"/>
              </a:defRPr>
            </a:pPr>
            <a:r>
              <a:t>Mətni Bölmələrə Ayırmaq Üçün 5 Məcburi Qayda</a:t>
            </a:r>
          </a:p>
          <a:p>
            <a:pPr>
              <a:spcAft>
                <a:spcPts val="400"/>
              </a:spcAft>
              <a:defRPr sz="1150">
                <a:solidFill>
                  <a:srgbClr val="0F172A"/>
                </a:solidFill>
                <a:latin typeface="Arial"/>
              </a:defRPr>
            </a:pPr>
            <a:r>
              <a:t>✓ Qayda 1: Bölmə işarəsi dəyişməz qalmalıdır (nömrələmə sənəd boyu eyni sistemlə getməlidir).</a:t>
            </a:r>
          </a:p>
          <a:p>
            <a:pPr>
              <a:spcAft>
                <a:spcPts val="400"/>
              </a:spcAft>
              <a:defRPr sz="1150">
                <a:solidFill>
                  <a:srgbClr val="0F172A"/>
                </a:solidFill>
                <a:latin typeface="Arial"/>
              </a:defRPr>
            </a:pPr>
          </a:p>
          <a:p>
            <a:pPr>
              <a:spcAft>
                <a:spcPts val="400"/>
              </a:spcAft>
              <a:defRPr sz="1150">
                <a:solidFill>
                  <a:srgbClr val="0F172A"/>
                </a:solidFill>
                <a:latin typeface="Arial"/>
              </a:defRPr>
            </a:pPr>
            <a:r>
              <a:t>✓ Qayda 2: Bölmənin məzmunu əlaqəli bölmələrin (bəndlərin) ümumi məzmununa bərabər olmalıdır.</a:t>
            </a:r>
          </a:p>
          <a:p>
            <a:pPr>
              <a:spcAft>
                <a:spcPts val="400"/>
              </a:spcAft>
              <a:defRPr sz="1150">
                <a:solidFill>
                  <a:srgbClr val="0F172A"/>
                </a:solidFill>
                <a:latin typeface="Arial"/>
              </a:defRPr>
            </a:pPr>
          </a:p>
          <a:p>
            <a:pPr>
              <a:spcAft>
                <a:spcPts val="400"/>
              </a:spcAft>
              <a:defRPr sz="1150">
                <a:solidFill>
                  <a:srgbClr val="0F172A"/>
                </a:solidFill>
                <a:latin typeface="Arial"/>
              </a:defRPr>
            </a:pPr>
            <a:r>
              <a:t>✓ Qayda 3: Hissənin (alt-bəndin) adı bütöv sənədin adı ilə üst-üstə düşməməlidir.</a:t>
            </a:r>
          </a:p>
          <a:p>
            <a:pPr>
              <a:spcAft>
                <a:spcPts val="400"/>
              </a:spcAft>
              <a:defRPr sz="1150">
                <a:solidFill>
                  <a:srgbClr val="0F172A"/>
                </a:solidFill>
                <a:latin typeface="Arial"/>
              </a:defRPr>
            </a:pPr>
          </a:p>
          <a:p>
            <a:pPr>
              <a:spcAft>
                <a:spcPts val="400"/>
              </a:spcAft>
              <a:defRPr sz="1150">
                <a:solidFill>
                  <a:srgbClr val="0F172A"/>
                </a:solidFill>
                <a:latin typeface="Arial"/>
              </a:defRPr>
            </a:pPr>
            <a:r>
              <a:t>✓ Qayda 4: Bölmə üzvləri bir-birini qarşılıqlı surətdə xaric etməlidir (təkrarçılıq olmamalıdır).</a:t>
            </a:r>
          </a:p>
          <a:p>
            <a:pPr>
              <a:spcAft>
                <a:spcPts val="400"/>
              </a:spcAft>
              <a:defRPr sz="1150">
                <a:solidFill>
                  <a:srgbClr val="0F172A"/>
                </a:solidFill>
                <a:latin typeface="Arial"/>
              </a:defRPr>
            </a:pPr>
          </a:p>
          <a:p>
            <a:pPr>
              <a:spcAft>
                <a:spcPts val="400"/>
              </a:spcAft>
              <a:defRPr sz="1150">
                <a:solidFill>
                  <a:srgbClr val="0F172A"/>
                </a:solidFill>
                <a:latin typeface="Arial"/>
              </a:defRPr>
            </a:pPr>
            <a:r>
              <a:t>✓ Qayda 5: Bölmə məntiqli və yığcam olmalıdır (böyük hərflə başlayıb nöqtə ilə bitməli, TAM BÖYÜK HƏRFLİ emosional yazılışdan qaçınılmalıdır).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4 · İCRA QAYDALARI (WORKFLOW)</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Elektron sənədin hazırlanmasından arxivləşdirilməsinə qədər 5 icra mərhələsi</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08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210312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1773936" cy="3721607"/>
          </a:xfrm>
          <a:prstGeom prst="rect">
            <a:avLst/>
          </a:prstGeom>
          <a:noFill/>
        </p:spPr>
        <p:txBody>
          <a:bodyPr wrap="square">
            <a:spAutoFit/>
          </a:bodyPr>
          <a:lstStyle/>
          <a:p>
            <a:pPr>
              <a:spcAft>
                <a:spcPts val="600"/>
              </a:spcAft>
              <a:defRPr sz="1230" b="1">
                <a:solidFill>
                  <a:srgbClr val="1E3A8A"/>
                </a:solidFill>
                <a:latin typeface="Arial"/>
              </a:defRPr>
            </a:pPr>
            <a:r>
              <a:t>MƏRHƏLƏ 1</a:t>
            </a:r>
            <a:br/>
            <a:r>
              <a:t>Layihə Tərtibi</a:t>
            </a:r>
          </a:p>
          <a:p>
            <a:pPr>
              <a:spcAft>
                <a:spcPts val="400"/>
              </a:spcAft>
              <a:defRPr sz="1080">
                <a:solidFill>
                  <a:srgbClr val="0F172A"/>
                </a:solidFill>
                <a:latin typeface="Arial"/>
              </a:defRPr>
            </a:pPr>
            <a:r>
              <a:t>• İcraçı ESD sistemində uyğun sənəd şablonunu seçir.</a:t>
            </a:r>
          </a:p>
          <a:p>
            <a:pPr>
              <a:spcAft>
                <a:spcPts val="400"/>
              </a:spcAft>
              <a:defRPr sz="1080">
                <a:solidFill>
                  <a:srgbClr val="0F172A"/>
                </a:solidFill>
                <a:latin typeface="Arial"/>
              </a:defRPr>
            </a:pPr>
            <a:r>
              <a:t>• 7 məcburi rekviziti və mətni daxil edir.</a:t>
            </a:r>
          </a:p>
          <a:p>
            <a:pPr>
              <a:spcAft>
                <a:spcPts val="400"/>
              </a:spcAft>
              <a:defRPr sz="1080">
                <a:solidFill>
                  <a:srgbClr val="0F172A"/>
                </a:solidFill>
                <a:latin typeface="Arial"/>
              </a:defRPr>
            </a:pPr>
            <a:r>
              <a:t>• Orfoqrafik və üslub yoxlamasını aparır.</a:t>
            </a:r>
          </a:p>
          <a:p>
            <a:pPr>
              <a:spcAft>
                <a:spcPts val="400"/>
              </a:spcAft>
              <a:defRPr sz="1080">
                <a:solidFill>
                  <a:srgbClr val="0F172A"/>
                </a:solidFill>
                <a:latin typeface="Arial"/>
              </a:defRPr>
            </a:pPr>
          </a:p>
          <a:p>
            <a:pPr>
              <a:spcAft>
                <a:spcPts val="400"/>
              </a:spcAft>
              <a:defRPr sz="1080">
                <a:solidFill>
                  <a:srgbClr val="0F172A"/>
                </a:solidFill>
                <a:latin typeface="Arial"/>
              </a:defRPr>
            </a:pPr>
            <a:r>
              <a:t>Status: Qaralama</a:t>
            </a:r>
          </a:p>
        </p:txBody>
      </p:sp>
      <p:sp>
        <p:nvSpPr>
          <p:cNvPr id="13" name="Rounded Rectangle 12"/>
          <p:cNvSpPr/>
          <p:nvPr/>
        </p:nvSpPr>
        <p:spPr>
          <a:xfrm>
            <a:off x="2798064" y="960120"/>
            <a:ext cx="210312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62656" y="1088136"/>
            <a:ext cx="1773936" cy="3721607"/>
          </a:xfrm>
          <a:prstGeom prst="rect">
            <a:avLst/>
          </a:prstGeom>
          <a:noFill/>
        </p:spPr>
        <p:txBody>
          <a:bodyPr wrap="square">
            <a:spAutoFit/>
          </a:bodyPr>
          <a:lstStyle/>
          <a:p>
            <a:pPr>
              <a:spcAft>
                <a:spcPts val="600"/>
              </a:spcAft>
              <a:defRPr sz="1230" b="1">
                <a:solidFill>
                  <a:srgbClr val="1E3A8A"/>
                </a:solidFill>
                <a:latin typeface="Arial"/>
              </a:defRPr>
            </a:pPr>
            <a:r>
              <a:t>MƏRHƏLƏ 2</a:t>
            </a:r>
            <a:br/>
            <a:r>
              <a:t>Vizalanma</a:t>
            </a:r>
          </a:p>
          <a:p>
            <a:pPr>
              <a:spcAft>
                <a:spcPts val="400"/>
              </a:spcAft>
              <a:defRPr sz="1080">
                <a:solidFill>
                  <a:srgbClr val="0F172A"/>
                </a:solidFill>
                <a:latin typeface="Arial"/>
              </a:defRPr>
            </a:pPr>
            <a:r>
              <a:t>• Layihə hüquq, maliyyə və aidiyyəti şöbələrə ötürülür.</a:t>
            </a:r>
          </a:p>
          <a:p>
            <a:pPr>
              <a:spcAft>
                <a:spcPts val="400"/>
              </a:spcAft>
              <a:defRPr sz="1080">
                <a:solidFill>
                  <a:srgbClr val="0F172A"/>
                </a:solidFill>
                <a:latin typeface="Arial"/>
              </a:defRPr>
            </a:pPr>
            <a:r>
              <a:t>• Paralel və ya ardıcıl marşrutla elektron «Viza» qoyulur.</a:t>
            </a:r>
          </a:p>
          <a:p>
            <a:pPr>
              <a:spcAft>
                <a:spcPts val="400"/>
              </a:spcAft>
              <a:defRPr sz="1080">
                <a:solidFill>
                  <a:srgbClr val="0F172A"/>
                </a:solidFill>
                <a:latin typeface="Arial"/>
              </a:defRPr>
            </a:pPr>
            <a:r>
              <a:t>• Düzəliş varsa rəylə geri qaytarılır.</a:t>
            </a:r>
          </a:p>
          <a:p>
            <a:pPr>
              <a:spcAft>
                <a:spcPts val="400"/>
              </a:spcAft>
              <a:defRPr sz="1080">
                <a:solidFill>
                  <a:srgbClr val="0F172A"/>
                </a:solidFill>
                <a:latin typeface="Arial"/>
              </a:defRPr>
            </a:pPr>
          </a:p>
          <a:p>
            <a:pPr>
              <a:spcAft>
                <a:spcPts val="400"/>
              </a:spcAft>
              <a:defRPr sz="1080">
                <a:solidFill>
                  <a:srgbClr val="0F172A"/>
                </a:solidFill>
                <a:latin typeface="Arial"/>
              </a:defRPr>
            </a:pPr>
            <a:r>
              <a:t>Status: Razılaşdırılır</a:t>
            </a:r>
          </a:p>
        </p:txBody>
      </p:sp>
      <p:sp>
        <p:nvSpPr>
          <p:cNvPr id="15" name="Rounded Rectangle 14"/>
          <p:cNvSpPr/>
          <p:nvPr/>
        </p:nvSpPr>
        <p:spPr>
          <a:xfrm>
            <a:off x="5047488" y="960120"/>
            <a:ext cx="2103120" cy="3977639"/>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2079" y="1088136"/>
            <a:ext cx="1773936" cy="3721607"/>
          </a:xfrm>
          <a:prstGeom prst="rect">
            <a:avLst/>
          </a:prstGeom>
          <a:noFill/>
        </p:spPr>
        <p:txBody>
          <a:bodyPr wrap="square">
            <a:spAutoFit/>
          </a:bodyPr>
          <a:lstStyle/>
          <a:p>
            <a:pPr>
              <a:spcAft>
                <a:spcPts val="600"/>
              </a:spcAft>
              <a:defRPr sz="1230" b="1">
                <a:solidFill>
                  <a:srgbClr val="1E3A8A"/>
                </a:solidFill>
                <a:latin typeface="Arial"/>
              </a:defRPr>
            </a:pPr>
            <a:r>
              <a:t>MƏRHƏLƏ 3</a:t>
            </a:r>
            <a:br/>
            <a:r>
              <a:t>Elektron İmza</a:t>
            </a:r>
          </a:p>
          <a:p>
            <a:pPr>
              <a:spcAft>
                <a:spcPts val="400"/>
              </a:spcAft>
              <a:defRPr sz="1080">
                <a:solidFill>
                  <a:srgbClr val="0F172A"/>
                </a:solidFill>
                <a:latin typeface="Arial"/>
              </a:defRPr>
            </a:pPr>
            <a:r>
              <a:t>• Rəhbər şəxs sənədi ASAN İmza və ya SİMA ilə təsdiqləyir.</a:t>
            </a:r>
          </a:p>
          <a:p>
            <a:pPr>
              <a:spcAft>
                <a:spcPts val="400"/>
              </a:spcAft>
              <a:defRPr sz="1080">
                <a:solidFill>
                  <a:srgbClr val="0F172A"/>
                </a:solidFill>
                <a:latin typeface="Arial"/>
              </a:defRPr>
            </a:pPr>
            <a:r>
              <a:t>• Sənəd hüquqi qüvvə qazanır.</a:t>
            </a:r>
          </a:p>
          <a:p>
            <a:pPr>
              <a:spcAft>
                <a:spcPts val="400"/>
              </a:spcAft>
              <a:defRPr sz="1080">
                <a:solidFill>
                  <a:srgbClr val="0F172A"/>
                </a:solidFill>
                <a:latin typeface="Arial"/>
              </a:defRPr>
            </a:pPr>
            <a:r>
              <a:t>• Mətn kriptoqrafik olaraq kilidlənir.</a:t>
            </a:r>
          </a:p>
          <a:p>
            <a:pPr>
              <a:spcAft>
                <a:spcPts val="400"/>
              </a:spcAft>
              <a:defRPr sz="1080">
                <a:solidFill>
                  <a:srgbClr val="0F172A"/>
                </a:solidFill>
                <a:latin typeface="Arial"/>
              </a:defRPr>
            </a:pPr>
          </a:p>
          <a:p>
            <a:pPr>
              <a:spcAft>
                <a:spcPts val="400"/>
              </a:spcAft>
              <a:defRPr sz="1080">
                <a:solidFill>
                  <a:srgbClr val="0F172A"/>
                </a:solidFill>
                <a:latin typeface="Arial"/>
              </a:defRPr>
            </a:pPr>
            <a:r>
              <a:t>Status: İmzalanmışdır</a:t>
            </a:r>
          </a:p>
        </p:txBody>
      </p:sp>
      <p:sp>
        <p:nvSpPr>
          <p:cNvPr id="17" name="Rounded Rectangle 16"/>
          <p:cNvSpPr/>
          <p:nvPr/>
        </p:nvSpPr>
        <p:spPr>
          <a:xfrm>
            <a:off x="7296912" y="960120"/>
            <a:ext cx="210312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61504" y="1088136"/>
            <a:ext cx="1773936" cy="3721607"/>
          </a:xfrm>
          <a:prstGeom prst="rect">
            <a:avLst/>
          </a:prstGeom>
          <a:noFill/>
        </p:spPr>
        <p:txBody>
          <a:bodyPr wrap="square">
            <a:spAutoFit/>
          </a:bodyPr>
          <a:lstStyle/>
          <a:p>
            <a:pPr>
              <a:spcAft>
                <a:spcPts val="600"/>
              </a:spcAft>
              <a:defRPr sz="1230" b="1">
                <a:solidFill>
                  <a:srgbClr val="1E3A8A"/>
                </a:solidFill>
                <a:latin typeface="Arial"/>
              </a:defRPr>
            </a:pPr>
            <a:r>
              <a:t>MƏRHƏLƏ 4</a:t>
            </a:r>
            <a:br/>
            <a:r>
              <a:t>Qeydiyyat &amp; Dərkənar</a:t>
            </a:r>
          </a:p>
          <a:p>
            <a:pPr>
              <a:spcAft>
                <a:spcPts val="400"/>
              </a:spcAft>
              <a:defRPr sz="1080">
                <a:solidFill>
                  <a:srgbClr val="0F172A"/>
                </a:solidFill>
                <a:latin typeface="Arial"/>
              </a:defRPr>
            </a:pPr>
            <a:r>
              <a:t>• Sistem avtomatik indeks və QR-kod verir.</a:t>
            </a:r>
          </a:p>
          <a:p>
            <a:pPr>
              <a:spcAft>
                <a:spcPts val="400"/>
              </a:spcAft>
              <a:defRPr sz="1080">
                <a:solidFill>
                  <a:srgbClr val="0F172A"/>
                </a:solidFill>
                <a:latin typeface="Arial"/>
              </a:defRPr>
            </a:pPr>
            <a:r>
              <a:t>• Rəhbər sənədə elektron Dərkənar (rezolyusiya) yazır.</a:t>
            </a:r>
          </a:p>
          <a:p>
            <a:pPr>
              <a:spcAft>
                <a:spcPts val="400"/>
              </a:spcAft>
              <a:defRPr sz="1080">
                <a:solidFill>
                  <a:srgbClr val="0F172A"/>
                </a:solidFill>
                <a:latin typeface="Arial"/>
              </a:defRPr>
            </a:pPr>
            <a:r>
              <a:t>• İcraçı və son tarix (Deadline) təyin edilir.</a:t>
            </a:r>
          </a:p>
          <a:p>
            <a:pPr>
              <a:spcAft>
                <a:spcPts val="400"/>
              </a:spcAft>
              <a:defRPr sz="1080">
                <a:solidFill>
                  <a:srgbClr val="0F172A"/>
                </a:solidFill>
                <a:latin typeface="Arial"/>
              </a:defRPr>
            </a:pPr>
          </a:p>
          <a:p>
            <a:pPr>
              <a:spcAft>
                <a:spcPts val="400"/>
              </a:spcAft>
              <a:defRPr sz="1080">
                <a:solidFill>
                  <a:srgbClr val="0F172A"/>
                </a:solidFill>
                <a:latin typeface="Arial"/>
              </a:defRPr>
            </a:pPr>
            <a:r>
              <a:t>Status: İcradadır</a:t>
            </a:r>
          </a:p>
        </p:txBody>
      </p:sp>
      <p:sp>
        <p:nvSpPr>
          <p:cNvPr id="19" name="Rounded Rectangle 18"/>
          <p:cNvSpPr/>
          <p:nvPr/>
        </p:nvSpPr>
        <p:spPr>
          <a:xfrm>
            <a:off x="9546336" y="960120"/>
            <a:ext cx="2103120" cy="3977639"/>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10928" y="1088136"/>
            <a:ext cx="1773936" cy="3721607"/>
          </a:xfrm>
          <a:prstGeom prst="rect">
            <a:avLst/>
          </a:prstGeom>
          <a:noFill/>
        </p:spPr>
        <p:txBody>
          <a:bodyPr wrap="square">
            <a:spAutoFit/>
          </a:bodyPr>
          <a:lstStyle/>
          <a:p>
            <a:pPr>
              <a:spcAft>
                <a:spcPts val="600"/>
              </a:spcAft>
              <a:defRPr sz="1230" b="1">
                <a:solidFill>
                  <a:srgbClr val="1E3A8A"/>
                </a:solidFill>
                <a:latin typeface="Arial"/>
              </a:defRPr>
            </a:pPr>
            <a:r>
              <a:t>MƏRHƏLƏ 5</a:t>
            </a:r>
            <a:br/>
            <a:r>
              <a:t>Nəzarət &amp; Arxiv</a:t>
            </a:r>
          </a:p>
          <a:p>
            <a:pPr>
              <a:spcAft>
                <a:spcPts val="400"/>
              </a:spcAft>
              <a:defRPr sz="1080">
                <a:solidFill>
                  <a:srgbClr val="0F172A"/>
                </a:solidFill>
                <a:latin typeface="Arial"/>
              </a:defRPr>
            </a:pPr>
            <a:r>
              <a:t>• İcraçı tapşırığı yerinə yetirib hesabatı yükləyir.</a:t>
            </a:r>
          </a:p>
          <a:p>
            <a:pPr>
              <a:spcAft>
                <a:spcPts val="400"/>
              </a:spcAft>
              <a:defRPr sz="1080">
                <a:solidFill>
                  <a:srgbClr val="0F172A"/>
                </a:solidFill>
                <a:latin typeface="Arial"/>
              </a:defRPr>
            </a:pPr>
            <a:r>
              <a:t>• Nəzarət şöbəsi icranı təsdiqləyir.</a:t>
            </a:r>
          </a:p>
          <a:p>
            <a:pPr>
              <a:spcAft>
                <a:spcPts val="400"/>
              </a:spcAft>
              <a:defRPr sz="1080">
                <a:solidFill>
                  <a:srgbClr val="0F172A"/>
                </a:solidFill>
                <a:latin typeface="Arial"/>
              </a:defRPr>
            </a:pPr>
            <a:r>
              <a:t>• Sənəd Rəqəmsal Arxivdə indeks üzrə saxlanılır.</a:t>
            </a:r>
          </a:p>
          <a:p>
            <a:pPr>
              <a:spcAft>
                <a:spcPts val="400"/>
              </a:spcAft>
              <a:defRPr sz="1080">
                <a:solidFill>
                  <a:srgbClr val="0F172A"/>
                </a:solidFill>
                <a:latin typeface="Arial"/>
              </a:defRPr>
            </a:pPr>
          </a:p>
          <a:p>
            <a:pPr>
              <a:spcAft>
                <a:spcPts val="400"/>
              </a:spcAft>
              <a:defRPr sz="1080">
                <a:solidFill>
                  <a:srgbClr val="0F172A"/>
                </a:solidFill>
                <a:latin typeface="Arial"/>
              </a:defRPr>
            </a:pPr>
            <a:r>
              <a:t>Status: İcra edildi ✓</a:t>
            </a:r>
          </a:p>
        </p:txBody>
      </p:sp>
      <p:sp>
        <p:nvSpPr>
          <p:cNvPr id="21" name="Rounded Rectangle 20"/>
          <p:cNvSpPr/>
          <p:nvPr/>
        </p:nvSpPr>
        <p:spPr>
          <a:xfrm>
            <a:off x="548640" y="5120640"/>
            <a:ext cx="11094415" cy="1005840"/>
          </a:xfrm>
          <a:prstGeom prst="roundRect">
            <a:avLst>
              <a:gd name="adj" fmla="val 3000"/>
            </a:avLst>
          </a:prstGeom>
          <a:solidFill>
            <a:srgbClr val="FEFCE8"/>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248655"/>
            <a:ext cx="10765231" cy="749808"/>
          </a:xfrm>
          <a:prstGeom prst="rect">
            <a:avLst/>
          </a:prstGeom>
          <a:noFill/>
        </p:spPr>
        <p:txBody>
          <a:bodyPr wrap="square">
            <a:spAutoFit/>
          </a:bodyPr>
          <a:lstStyle/>
          <a:p>
            <a:pPr>
              <a:spcAft>
                <a:spcPts val="600"/>
              </a:spcAft>
              <a:defRPr sz="1300" b="1">
                <a:solidFill>
                  <a:srgbClr val="B45309"/>
                </a:solidFill>
                <a:latin typeface="Arial"/>
              </a:defRPr>
            </a:pPr>
            <a:r>
              <a:t>⚠️ HÜQUQİ MƏSULİYYƏT VƏ İCRA İNTİZAMI (MƏŞĞƏLƏ 14, SLAYD 22 &amp; 26)</a:t>
            </a:r>
          </a:p>
          <a:p>
            <a:pPr>
              <a:spcAft>
                <a:spcPts val="400"/>
              </a:spcAft>
              <a:defRPr sz="1150">
                <a:solidFill>
                  <a:srgbClr val="0F172A"/>
                </a:solidFill>
                <a:latin typeface="Arial"/>
              </a:defRPr>
            </a:pPr>
            <a:r>
              <a:t>Fərman, qərar və sərəncamların icra edilməməsi müəyyən hüquqi məsuliyyətə səbəb olur. ESD sistemi icra müddəti gecikən sənədlər üzrə avtomatik xəbərdarlıq göndərir və rəhbərliyin nəzarət panelində qırmızı indikatorla göstərir.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4 · ELEKTRON İŞGÜZAR RABİTƏ (MƏŞĞƏLƏ 19)</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Korporativ elektron poçt quruluşu, ölçüsü və 6 icra intizamı qaydası</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09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5394960" cy="51663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5065776" cy="4910328"/>
          </a:xfrm>
          <a:prstGeom prst="rect">
            <a:avLst/>
          </a:prstGeom>
          <a:noFill/>
        </p:spPr>
        <p:txBody>
          <a:bodyPr wrap="square">
            <a:spAutoFit/>
          </a:bodyPr>
          <a:lstStyle/>
          <a:p>
            <a:pPr>
              <a:spcAft>
                <a:spcPts val="600"/>
              </a:spcAft>
              <a:defRPr sz="1270" b="1">
                <a:solidFill>
                  <a:srgbClr val="1E3A8A"/>
                </a:solidFill>
                <a:latin typeface="Arial"/>
              </a:defRPr>
            </a:pPr>
            <a:r>
              <a:t>Korporativ E-poçtun Quruluşu və Ölçü Normativləri</a:t>
            </a:r>
          </a:p>
          <a:p>
            <a:pPr>
              <a:spcAft>
                <a:spcPts val="400"/>
              </a:spcAft>
              <a:defRPr sz="1120">
                <a:solidFill>
                  <a:srgbClr val="0F172A"/>
                </a:solidFill>
                <a:latin typeface="Arial"/>
              </a:defRPr>
            </a:pPr>
            <a:r>
              <a:t>1. «Mövzu» (Subject), «Kimə» və «Yazının əhəmiyyəti» sahələri mütləq doldurulmalıdır.</a:t>
            </a:r>
          </a:p>
          <a:p>
            <a:pPr>
              <a:spcAft>
                <a:spcPts val="400"/>
              </a:spcAft>
              <a:defRPr sz="1120">
                <a:solidFill>
                  <a:srgbClr val="0F172A"/>
                </a:solidFill>
                <a:latin typeface="Arial"/>
              </a:defRPr>
            </a:pPr>
            <a:r>
              <a:t>2. Rəsmi Müraciət: Rəsmi qurumlara «Əziz / Hörmətli + Ad, Ata adı, Soyad»; Qərb tipli şirkətlərə isə adla müraciət uyğundur.</a:t>
            </a:r>
          </a:p>
          <a:p>
            <a:pPr>
              <a:spcAft>
                <a:spcPts val="400"/>
              </a:spcAft>
              <a:defRPr sz="1120">
                <a:solidFill>
                  <a:srgbClr val="0F172A"/>
                </a:solidFill>
                <a:latin typeface="Arial"/>
              </a:defRPr>
            </a:pPr>
            <a:r>
              <a:t>3. E-poçt Ölçüsü Qaydası: Elektron məktub kağız üzərində yazılandan 2 DƏFƏ QISA olmalıdır! Fikirlər boş sətirlərlə ayrılmalıdır.</a:t>
            </a:r>
          </a:p>
          <a:p>
            <a:pPr>
              <a:spcAft>
                <a:spcPts val="400"/>
              </a:spcAft>
              <a:defRPr sz="1120">
                <a:solidFill>
                  <a:srgbClr val="0F172A"/>
                </a:solidFill>
                <a:latin typeface="Arial"/>
              </a:defRPr>
            </a:pPr>
            <a:r>
              <a:t>4. Böyük Əlavələr (200–500 KB+): Böyük fayl göndərməzdən öncə alıcı xəbərdar edilməli və ya veb-interfeys / bulud keçidi verilməlidir.</a:t>
            </a:r>
          </a:p>
          <a:p>
            <a:pPr>
              <a:spcAft>
                <a:spcPts val="400"/>
              </a:spcAft>
              <a:defRPr sz="1120">
                <a:solidFill>
                  <a:srgbClr val="0F172A"/>
                </a:solidFill>
                <a:latin typeface="Arial"/>
              </a:defRPr>
            </a:pPr>
            <a:r>
              <a:t>5. Elektron İmza Тərtibi Qaydası (Slayd 21):</a:t>
            </a:r>
          </a:p>
          <a:p>
            <a:pPr>
              <a:spcAft>
                <a:spcPts val="400"/>
              </a:spcAft>
              <a:defRPr sz="1120">
                <a:solidFill>
                  <a:srgbClr val="0F172A"/>
                </a:solidFill>
                <a:latin typeface="Arial"/>
              </a:defRPr>
            </a:pPr>
            <a:r>
              <a:t>   • Elektron imza 5–6 sətirdən çox olmamalıdır;</a:t>
            </a:r>
          </a:p>
          <a:p>
            <a:pPr>
              <a:spcAft>
                <a:spcPts val="400"/>
              </a:spcAft>
              <a:defRPr sz="1120">
                <a:solidFill>
                  <a:srgbClr val="0F172A"/>
                </a:solidFill>
                <a:latin typeface="Arial"/>
              </a:defRPr>
            </a:pPr>
            <a:r>
              <a:t>   • Bir sətirdə işarələrin sayı 70-dən çox olmamalıdır;</a:t>
            </a:r>
          </a:p>
          <a:p>
            <a:pPr>
              <a:spcAft>
                <a:spcPts val="400"/>
              </a:spcAft>
              <a:defRPr sz="1120">
                <a:solidFill>
                  <a:srgbClr val="0F172A"/>
                </a:solidFill>
                <a:latin typeface="Arial"/>
              </a:defRPr>
            </a:pPr>
            <a:r>
              <a:t>   • İmzada aforizm, sitat, gülünc, dini və siyasi ifadələr QADAĞANDIR.</a:t>
            </a:r>
          </a:p>
        </p:txBody>
      </p:sp>
      <p:sp>
        <p:nvSpPr>
          <p:cNvPr id="13" name="Rounded Rectangle 12"/>
          <p:cNvSpPr/>
          <p:nvPr/>
        </p:nvSpPr>
        <p:spPr>
          <a:xfrm>
            <a:off x="6172200" y="960120"/>
            <a:ext cx="5468112" cy="516636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088136"/>
            <a:ext cx="5138928" cy="4910328"/>
          </a:xfrm>
          <a:prstGeom prst="rect">
            <a:avLst/>
          </a:prstGeom>
          <a:noFill/>
        </p:spPr>
        <p:txBody>
          <a:bodyPr wrap="square">
            <a:spAutoFit/>
          </a:bodyPr>
          <a:lstStyle/>
          <a:p>
            <a:pPr>
              <a:spcAft>
                <a:spcPts val="600"/>
              </a:spcAft>
              <a:defRPr sz="1270" b="1">
                <a:solidFill>
                  <a:srgbClr val="1E3A8A"/>
                </a:solidFill>
                <a:latin typeface="Arial"/>
              </a:defRPr>
            </a:pPr>
            <a:r>
              <a:t>İnternetdə İşgüzar Yazışmanın 6 İcra Qaydası (Slayd 26–28)</a:t>
            </a:r>
          </a:p>
          <a:p>
            <a:pPr>
              <a:spcAft>
                <a:spcPts val="400"/>
              </a:spcAft>
              <a:defRPr sz="1120">
                <a:solidFill>
                  <a:srgbClr val="0F172A"/>
                </a:solidFill>
                <a:latin typeface="Arial"/>
              </a:defRPr>
            </a:pPr>
            <a:r>
              <a:t>1. Mütəmadi yoxlama: İş günü ərzində poçt qutusu müntəzəm yoxlanılmalıdır.</a:t>
            </a:r>
          </a:p>
          <a:p>
            <a:pPr>
              <a:spcAft>
                <a:spcPts val="400"/>
              </a:spcAft>
              <a:defRPr sz="1120">
                <a:solidFill>
                  <a:srgbClr val="0F172A"/>
                </a:solidFill>
                <a:latin typeface="Arial"/>
              </a:defRPr>
            </a:pPr>
          </a:p>
          <a:p>
            <a:pPr>
              <a:spcAft>
                <a:spcPts val="400"/>
              </a:spcAft>
              <a:defRPr sz="1120">
                <a:solidFill>
                  <a:srgbClr val="0F172A"/>
                </a:solidFill>
                <a:latin typeface="Arial"/>
              </a:defRPr>
            </a:pPr>
            <a:r>
              <a:t>2. Maksimum 2 gün qaydası: Elektron poçta cavab müddəti 2 GÜNDƏN ÇOX OLMAMALIDIR (daha uzun vaxt lazımdırsa, gecikmə səbəbi dərhal bildirilməlidir).</a:t>
            </a:r>
          </a:p>
          <a:p>
            <a:pPr>
              <a:spcAft>
                <a:spcPts val="400"/>
              </a:spcAft>
              <a:defRPr sz="1120">
                <a:solidFill>
                  <a:srgbClr val="0F172A"/>
                </a:solidFill>
                <a:latin typeface="Arial"/>
              </a:defRPr>
            </a:pPr>
          </a:p>
          <a:p>
            <a:pPr>
              <a:spcAft>
                <a:spcPts val="400"/>
              </a:spcAft>
              <a:defRPr sz="1120">
                <a:solidFill>
                  <a:srgbClr val="0F172A"/>
                </a:solidFill>
                <a:latin typeface="Arial"/>
              </a:defRPr>
            </a:pPr>
            <a:r>
              <a:t>3. Çatdırılma təsdiqi: Vacib sənəd göndərdikdən sonra «Məktubunuzu cavab məktubu və ya telefonla təsdiqləməyinizi xahiş edirik» qeydi yazılmalıdır.</a:t>
            </a:r>
          </a:p>
          <a:p>
            <a:pPr>
              <a:spcAft>
                <a:spcPts val="400"/>
              </a:spcAft>
              <a:defRPr sz="1120">
                <a:solidFill>
                  <a:srgbClr val="0F172A"/>
                </a:solidFill>
                <a:latin typeface="Arial"/>
              </a:defRPr>
            </a:pPr>
          </a:p>
          <a:p>
            <a:pPr>
              <a:spcAft>
                <a:spcPts val="400"/>
              </a:spcAft>
              <a:defRPr sz="1120">
                <a:solidFill>
                  <a:srgbClr val="0F172A"/>
                </a:solidFill>
                <a:latin typeface="Arial"/>
              </a:defRPr>
            </a:pPr>
            <a:r>
              <a:t>4. Mövzu məcburiliyi: Mövzusuz (Subject-siz) rəsmi məktub göndərilməməlidir.</a:t>
            </a:r>
          </a:p>
          <a:p>
            <a:pPr>
              <a:spcAft>
                <a:spcPts val="400"/>
              </a:spcAft>
              <a:defRPr sz="1120">
                <a:solidFill>
                  <a:srgbClr val="0F172A"/>
                </a:solidFill>
                <a:latin typeface="Arial"/>
              </a:defRPr>
            </a:pPr>
          </a:p>
          <a:p>
            <a:pPr>
              <a:spcAft>
                <a:spcPts val="400"/>
              </a:spcAft>
              <a:defRPr sz="1120">
                <a:solidFill>
                  <a:srgbClr val="0F172A"/>
                </a:solidFill>
                <a:latin typeface="Arial"/>
              </a:defRPr>
            </a:pPr>
            <a:r>
              <a:t>5. Orijinal mətnin saxlanması: Cavab verərkən («Cavab ver» / Reply) göndərənin orijinal məktubu cavabın mətnində qeyd edilməlidir.</a:t>
            </a:r>
          </a:p>
          <a:p>
            <a:pPr>
              <a:spcAft>
                <a:spcPts val="400"/>
              </a:spcAft>
              <a:defRPr sz="1120">
                <a:solidFill>
                  <a:srgbClr val="0F172A"/>
                </a:solidFill>
                <a:latin typeface="Arial"/>
              </a:defRPr>
            </a:pPr>
          </a:p>
          <a:p>
            <a:pPr>
              <a:spcAft>
                <a:spcPts val="400"/>
              </a:spcAft>
              <a:defRPr sz="1120">
                <a:solidFill>
                  <a:srgbClr val="0F172A"/>
                </a:solidFill>
                <a:latin typeface="Arial"/>
              </a:defRPr>
            </a:pPr>
            <a:r>
              <a:t>6. Rabitənin tamamlanması: Telefon rabitəsində olduğu kimi, elektron rabitəni də RABİTƏ TƏŞƏBBÜSKARI tamamlamalıdır.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4 · PRAKTİK NÜMUNƏLƏR</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Elektron Sərəncam (şaquli) və Elektron Xidməti Qeyd (üfüqi) tərtibi nümunəsi</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10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5394960" cy="51663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5065776" cy="4910328"/>
          </a:xfrm>
          <a:prstGeom prst="rect">
            <a:avLst/>
          </a:prstGeom>
          <a:noFill/>
        </p:spPr>
        <p:txBody>
          <a:bodyPr wrap="square">
            <a:spAutoFit/>
          </a:bodyPr>
          <a:lstStyle/>
          <a:p>
            <a:pPr>
              <a:spcAft>
                <a:spcPts val="600"/>
              </a:spcAft>
              <a:defRPr sz="1230" b="1">
                <a:solidFill>
                  <a:srgbClr val="1E3A8A"/>
                </a:solidFill>
                <a:latin typeface="Arial"/>
              </a:defRPr>
            </a:pPr>
            <a:r>
              <a:t>NÜMUNƏ 1: ŞAQULİ İNZİBATİ SƏNƏD — SƏRƏNCAM</a:t>
            </a:r>
          </a:p>
          <a:p>
            <a:pPr>
              <a:spcAft>
                <a:spcPts val="400"/>
              </a:spcAft>
              <a:defRPr sz="1080">
                <a:solidFill>
                  <a:srgbClr val="0F172A"/>
                </a:solidFill>
                <a:latin typeface="Arial"/>
              </a:defRPr>
            </a:pPr>
            <a:r>
              <a:t>AZƏRBAYCAN TEXNİKİ UNİVERSİTETİ (Rəsmi Elektron Blank)</a:t>
            </a:r>
          </a:p>
          <a:p>
            <a:pPr>
              <a:spcAft>
                <a:spcPts val="400"/>
              </a:spcAft>
              <a:defRPr sz="1080">
                <a:solidFill>
                  <a:srgbClr val="0F172A"/>
                </a:solidFill>
                <a:latin typeface="Arial"/>
              </a:defRPr>
            </a:pPr>
            <a:r>
              <a:t>Qeydiyyat №: SƏR-2026/114                  Tarix: 30.09.2026</a:t>
            </a:r>
          </a:p>
          <a:p>
            <a:pPr>
              <a:spcAft>
                <a:spcPts val="400"/>
              </a:spcAft>
              <a:defRPr sz="1080">
                <a:solidFill>
                  <a:srgbClr val="0F172A"/>
                </a:solidFill>
                <a:latin typeface="Arial"/>
              </a:defRPr>
            </a:pPr>
            <a:r>
              <a:t>-----------------------------------------------------------------------</a:t>
            </a:r>
          </a:p>
          <a:p>
            <a:pPr>
              <a:spcAft>
                <a:spcPts val="400"/>
              </a:spcAft>
              <a:defRPr sz="1080">
                <a:solidFill>
                  <a:srgbClr val="0F172A"/>
                </a:solidFill>
                <a:latin typeface="Arial"/>
              </a:defRPr>
            </a:pPr>
            <a:r>
              <a:t>                              S Ə R Ə N C A M</a:t>
            </a:r>
          </a:p>
          <a:p>
            <a:pPr>
              <a:spcAft>
                <a:spcPts val="400"/>
              </a:spcAft>
              <a:defRPr sz="1080">
                <a:solidFill>
                  <a:srgbClr val="0F172A"/>
                </a:solidFill>
                <a:latin typeface="Arial"/>
              </a:defRPr>
            </a:pPr>
            <a:r>
              <a:t>Mövzu: Kafedralarda elektron sənəd dövriyyəsi modulunun tətbiqi barədə</a:t>
            </a:r>
          </a:p>
          <a:p>
            <a:pPr>
              <a:spcAft>
                <a:spcPts val="400"/>
              </a:spcAft>
              <a:defRPr sz="1080">
                <a:solidFill>
                  <a:srgbClr val="0F172A"/>
                </a:solidFill>
                <a:latin typeface="Arial"/>
              </a:defRPr>
            </a:pPr>
          </a:p>
          <a:p>
            <a:pPr>
              <a:spcAft>
                <a:spcPts val="400"/>
              </a:spcAft>
              <a:defRPr sz="1080">
                <a:solidFill>
                  <a:srgbClr val="0F172A"/>
                </a:solidFill>
                <a:latin typeface="Arial"/>
              </a:defRPr>
            </a:pPr>
            <a:r>
              <a:t>[Təsdiqləyici hissə]: Universitet daxilində xidməti yazışmaların operativliyini artırmaq məqsədilə, Elmi Şuranın 25.09.2026-cı il tarixli qərarına uyğun olaraq və bununla əlaqədar:</a:t>
            </a:r>
          </a:p>
          <a:p>
            <a:pPr>
              <a:spcAft>
                <a:spcPts val="400"/>
              </a:spcAft>
              <a:defRPr sz="1080">
                <a:solidFill>
                  <a:srgbClr val="0F172A"/>
                </a:solidFill>
                <a:latin typeface="Arial"/>
              </a:defRPr>
            </a:pPr>
          </a:p>
          <a:p>
            <a:pPr>
              <a:spcAft>
                <a:spcPts val="400"/>
              </a:spcAft>
              <a:defRPr sz="1080">
                <a:solidFill>
                  <a:srgbClr val="0F172A"/>
                </a:solidFill>
                <a:latin typeface="Arial"/>
              </a:defRPr>
            </a:pPr>
            <a:r>
              <a:t>[İnzibati hissə]:</a:t>
            </a:r>
          </a:p>
          <a:p>
            <a:pPr>
              <a:spcAft>
                <a:spcPts val="400"/>
              </a:spcAft>
              <a:defRPr sz="1080">
                <a:solidFill>
                  <a:srgbClr val="0F172A"/>
                </a:solidFill>
                <a:latin typeface="Arial"/>
              </a:defRPr>
            </a:pPr>
            <a:r>
              <a:t>1. Bütün struktur bölmələrində 01.10.2026-cı il tarixindən daxili arayış və xidməti qeydlərin ESD üzərindən göndərilməsi təmin edilsin.</a:t>
            </a:r>
          </a:p>
          <a:p>
            <a:pPr>
              <a:spcAft>
                <a:spcPts val="400"/>
              </a:spcAft>
              <a:defRPr sz="1080">
                <a:solidFill>
                  <a:srgbClr val="0F172A"/>
                </a:solidFill>
                <a:latin typeface="Arial"/>
              </a:defRPr>
            </a:pPr>
            <a:r>
              <a:t>2. Texniki dəstəyin təşkili İT departamentinə tapşırılsın.</a:t>
            </a:r>
          </a:p>
          <a:p>
            <a:pPr>
              <a:spcAft>
                <a:spcPts val="400"/>
              </a:spcAft>
              <a:defRPr sz="1080">
                <a:solidFill>
                  <a:srgbClr val="0F172A"/>
                </a:solidFill>
                <a:latin typeface="Arial"/>
              </a:defRPr>
            </a:pPr>
            <a:r>
              <a:t>-----------------------------------------------------------------------</a:t>
            </a:r>
          </a:p>
          <a:p>
            <a:pPr>
              <a:spcAft>
                <a:spcPts val="400"/>
              </a:spcAft>
              <a:defRPr sz="1080">
                <a:solidFill>
                  <a:srgbClr val="0F172A"/>
                </a:solidFill>
                <a:latin typeface="Arial"/>
              </a:defRPr>
            </a:pPr>
            <a:r>
              <a:t>Rəhbər: Rektor / Dekan       |   🔏 ASAN İMZA: Təsdiqlənib (#98A4F2)</a:t>
            </a:r>
          </a:p>
        </p:txBody>
      </p:sp>
      <p:sp>
        <p:nvSpPr>
          <p:cNvPr id="13" name="Rounded Rectangle 12"/>
          <p:cNvSpPr/>
          <p:nvPr/>
        </p:nvSpPr>
        <p:spPr>
          <a:xfrm>
            <a:off x="6172200" y="960120"/>
            <a:ext cx="5468112" cy="516636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1088136"/>
            <a:ext cx="5138928" cy="4910328"/>
          </a:xfrm>
          <a:prstGeom prst="rect">
            <a:avLst/>
          </a:prstGeom>
          <a:noFill/>
        </p:spPr>
        <p:txBody>
          <a:bodyPr wrap="square">
            <a:spAutoFit/>
          </a:bodyPr>
          <a:lstStyle/>
          <a:p>
            <a:pPr>
              <a:spcAft>
                <a:spcPts val="600"/>
              </a:spcAft>
              <a:defRPr sz="1230" b="1">
                <a:solidFill>
                  <a:srgbClr val="1E3A8A"/>
                </a:solidFill>
                <a:latin typeface="Arial"/>
              </a:defRPr>
            </a:pPr>
            <a:r>
              <a:t>NÜMUNƏ 2: ÜFÜQİ İSTİNAD SƏNƏDİ — XİDMƏTİ QEYD</a:t>
            </a:r>
          </a:p>
          <a:p>
            <a:pPr>
              <a:spcAft>
                <a:spcPts val="400"/>
              </a:spcAft>
              <a:defRPr sz="1080">
                <a:solidFill>
                  <a:srgbClr val="0F172A"/>
                </a:solidFill>
                <a:latin typeface="Arial"/>
              </a:defRPr>
            </a:pPr>
            <a:r>
              <a:t>Kimə: İT Şöbəsinin müdiri K.Əliyevə</a:t>
            </a:r>
          </a:p>
          <a:p>
            <a:pPr>
              <a:spcAft>
                <a:spcPts val="400"/>
              </a:spcAft>
              <a:defRPr sz="1080">
                <a:solidFill>
                  <a:srgbClr val="0F172A"/>
                </a:solidFill>
                <a:latin typeface="Arial"/>
              </a:defRPr>
            </a:pPr>
            <a:r>
              <a:t>Qeydiyyat №: XQ-2026/089                   Tarix: 30.09.2026</a:t>
            </a:r>
          </a:p>
          <a:p>
            <a:pPr>
              <a:spcAft>
                <a:spcPts val="400"/>
              </a:spcAft>
              <a:defRPr sz="1080">
                <a:solidFill>
                  <a:srgbClr val="0F172A"/>
                </a:solidFill>
                <a:latin typeface="Arial"/>
              </a:defRPr>
            </a:pPr>
            <a:r>
              <a:t>-----------------------------------------------------------------------</a:t>
            </a:r>
          </a:p>
          <a:p>
            <a:pPr>
              <a:spcAft>
                <a:spcPts val="400"/>
              </a:spcAft>
              <a:defRPr sz="1080">
                <a:solidFill>
                  <a:srgbClr val="0F172A"/>
                </a:solidFill>
                <a:latin typeface="Arial"/>
              </a:defRPr>
            </a:pPr>
            <a:r>
              <a:t>                        X İ D M Ə T İ   Q E Y D</a:t>
            </a:r>
          </a:p>
          <a:p>
            <a:pPr>
              <a:spcAft>
                <a:spcPts val="400"/>
              </a:spcAft>
              <a:defRPr sz="1080">
                <a:solidFill>
                  <a:srgbClr val="0F172A"/>
                </a:solidFill>
                <a:latin typeface="Arial"/>
              </a:defRPr>
            </a:pPr>
            <a:r>
              <a:t>Mövzu: 6326A2 qrup auditoriyasında rəqəmsal lövhənin sazlanması barədə</a:t>
            </a:r>
          </a:p>
          <a:p>
            <a:pPr>
              <a:spcAft>
                <a:spcPts val="400"/>
              </a:spcAft>
              <a:defRPr sz="1080">
                <a:solidFill>
                  <a:srgbClr val="0F172A"/>
                </a:solidFill>
                <a:latin typeface="Arial"/>
              </a:defRPr>
            </a:pPr>
          </a:p>
          <a:p>
            <a:pPr>
              <a:spcAft>
                <a:spcPts val="400"/>
              </a:spcAft>
              <a:defRPr sz="1080">
                <a:solidFill>
                  <a:srgbClr val="0F172A"/>
                </a:solidFill>
                <a:latin typeface="Arial"/>
              </a:defRPr>
            </a:pPr>
            <a:r>
              <a:t>Hörmətli Kamran müəllim,</a:t>
            </a:r>
          </a:p>
          <a:p>
            <a:pPr>
              <a:spcAft>
                <a:spcPts val="400"/>
              </a:spcAft>
              <a:defRPr sz="1080">
                <a:solidFill>
                  <a:srgbClr val="0F172A"/>
                </a:solidFill>
                <a:latin typeface="Arial"/>
              </a:defRPr>
            </a:pPr>
            <a:r>
              <a:t>2026/2027-ci tədris ilinin payız semestrində 6326A2 qrupunda keçirilən məşğələ dərslərində interaktiv təqdimatların nümayişi üçün 304 saylı auditoriyadakı proyektorun şəbəkə çıxışının aktivləşdirilməsinə ehtiyac yaranmışdır.</a:t>
            </a:r>
          </a:p>
          <a:p>
            <a:pPr>
              <a:spcAft>
                <a:spcPts val="400"/>
              </a:spcAft>
              <a:defRPr sz="1080">
                <a:solidFill>
                  <a:srgbClr val="0F172A"/>
                </a:solidFill>
                <a:latin typeface="Arial"/>
              </a:defRPr>
            </a:pPr>
          </a:p>
          <a:p>
            <a:pPr>
              <a:spcAft>
                <a:spcPts val="400"/>
              </a:spcAft>
              <a:defRPr sz="1080">
                <a:solidFill>
                  <a:srgbClr val="0F172A"/>
                </a:solidFill>
                <a:latin typeface="Arial"/>
              </a:defRPr>
            </a:pPr>
            <a:r>
              <a:t>Müvafiq texniki mütəxəssisin ayrılmasına köməklik göstərməyinizi xahiş edirəm.</a:t>
            </a:r>
          </a:p>
          <a:p>
            <a:pPr>
              <a:spcAft>
                <a:spcPts val="400"/>
              </a:spcAft>
              <a:defRPr sz="1080">
                <a:solidFill>
                  <a:srgbClr val="0F172A"/>
                </a:solidFill>
                <a:latin typeface="Arial"/>
              </a:defRPr>
            </a:pPr>
            <a:r>
              <a:t>-----------------------------------------------------------------------</a:t>
            </a:r>
          </a:p>
          <a:p>
            <a:pPr>
              <a:spcAft>
                <a:spcPts val="400"/>
              </a:spcAft>
              <a:defRPr sz="1080">
                <a:solidFill>
                  <a:srgbClr val="0F172A"/>
                </a:solidFill>
                <a:latin typeface="Arial"/>
              </a:defRPr>
            </a:pPr>
            <a:r>
              <a:t>Tərtibçi: Baş laborant Səfərli E.  |  🔏 SİMA İMZA: Təsdiqlənib (#41C9E0)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BÖLMƏ 4 · MÜHƏNDİSLİK VƏ TƏHLÜKƏSİZLİK</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Elektron sənədin kriptoqrafik bütövlüyü (Integrity) və kibertəhlükəsizlik tələbləri</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11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3547872" cy="347472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3218688" cy="3218687"/>
          </a:xfrm>
          <a:prstGeom prst="rect">
            <a:avLst/>
          </a:prstGeom>
          <a:noFill/>
        </p:spPr>
        <p:txBody>
          <a:bodyPr wrap="square">
            <a:spAutoFit/>
          </a:bodyPr>
          <a:lstStyle/>
          <a:p>
            <a:pPr>
              <a:spcAft>
                <a:spcPts val="600"/>
              </a:spcAft>
              <a:defRPr sz="1300" b="1">
                <a:solidFill>
                  <a:srgbClr val="1E3A8A"/>
                </a:solidFill>
                <a:latin typeface="Arial"/>
              </a:defRPr>
            </a:pPr>
            <a:r>
              <a:t>01 · BÜTÖVLÜK (INTEGRITY)</a:t>
            </a:r>
          </a:p>
          <a:p>
            <a:pPr>
              <a:spcAft>
                <a:spcPts val="400"/>
              </a:spcAft>
              <a:defRPr sz="1150">
                <a:solidFill>
                  <a:srgbClr val="0F172A"/>
                </a:solidFill>
                <a:latin typeface="Arial"/>
              </a:defRPr>
            </a:pPr>
            <a:r>
              <a:t>🔐 SHA-256 Kriptoqrafik Mühafizə:</a:t>
            </a:r>
          </a:p>
          <a:p>
            <a:pPr>
              <a:spcAft>
                <a:spcPts val="400"/>
              </a:spcAft>
              <a:defRPr sz="1150">
                <a:solidFill>
                  <a:srgbClr val="0F172A"/>
                </a:solidFill>
                <a:latin typeface="Arial"/>
              </a:defRPr>
            </a:pPr>
            <a:r>
              <a:t>Sənəd elektron imza ilə təsdiqlənərkən onun mətnindən riyazi alqoritmlə unikal barmaq izi (Hash kodu) yaradılır.</a:t>
            </a:r>
          </a:p>
          <a:p>
            <a:pPr>
              <a:spcAft>
                <a:spcPts val="400"/>
              </a:spcAft>
              <a:defRPr sz="1150">
                <a:solidFill>
                  <a:srgbClr val="0F172A"/>
                </a:solidFill>
                <a:latin typeface="Arial"/>
              </a:defRPr>
            </a:pPr>
            <a:r>
              <a:t>İmzalanmış sənəddə 1 hərf və ya rəqəm belə dəyişdirilərsə, sistem imzanı dərhal etibarsız elan edir.</a:t>
            </a:r>
          </a:p>
        </p:txBody>
      </p:sp>
      <p:sp>
        <p:nvSpPr>
          <p:cNvPr id="13" name="Rounded Rectangle 12"/>
          <p:cNvSpPr/>
          <p:nvPr/>
        </p:nvSpPr>
        <p:spPr>
          <a:xfrm>
            <a:off x="4315968" y="960120"/>
            <a:ext cx="3547872" cy="347472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1088136"/>
            <a:ext cx="3218688" cy="3218687"/>
          </a:xfrm>
          <a:prstGeom prst="rect">
            <a:avLst/>
          </a:prstGeom>
          <a:noFill/>
        </p:spPr>
        <p:txBody>
          <a:bodyPr wrap="square">
            <a:spAutoFit/>
          </a:bodyPr>
          <a:lstStyle/>
          <a:p>
            <a:pPr>
              <a:spcAft>
                <a:spcPts val="600"/>
              </a:spcAft>
              <a:defRPr sz="1300" b="1">
                <a:solidFill>
                  <a:srgbClr val="1E3A8A"/>
                </a:solidFill>
                <a:latin typeface="Arial"/>
              </a:defRPr>
            </a:pPr>
            <a:r>
              <a:t>02 · İNKAREDİLMƏZLİK</a:t>
            </a:r>
          </a:p>
          <a:p>
            <a:pPr>
              <a:spcAft>
                <a:spcPts val="400"/>
              </a:spcAft>
              <a:defRPr sz="1150">
                <a:solidFill>
                  <a:srgbClr val="0F172A"/>
                </a:solidFill>
                <a:latin typeface="Arial"/>
              </a:defRPr>
            </a:pPr>
            <a:r>
              <a:t>🕒 Zaman Möhürü və Audit İzi:</a:t>
            </a:r>
          </a:p>
          <a:p>
            <a:pPr>
              <a:spcAft>
                <a:spcPts val="400"/>
              </a:spcAft>
              <a:defRPr sz="1150">
                <a:solidFill>
                  <a:srgbClr val="0F172A"/>
                </a:solidFill>
                <a:latin typeface="Arial"/>
              </a:defRPr>
            </a:pPr>
            <a:r>
              <a:t>Hər bir əməliyyat (sənədi kim yaratdı, kim oxudu, kim viza verdi və kim imzaladı) sertifikatlaşdırılmış Zaman Möhürü (Timestamp) ilə sistem jurnalına (Audit Log) yazılır.</a:t>
            </a:r>
          </a:p>
          <a:p>
            <a:pPr>
              <a:spcAft>
                <a:spcPts val="400"/>
              </a:spcAft>
              <a:defRPr sz="1150">
                <a:solidFill>
                  <a:srgbClr val="0F172A"/>
                </a:solidFill>
                <a:latin typeface="Arial"/>
              </a:defRPr>
            </a:pPr>
            <a:r>
              <a:t>İmza sahibi sonradan imzasından imtina edə bilməz.</a:t>
            </a:r>
          </a:p>
        </p:txBody>
      </p:sp>
      <p:sp>
        <p:nvSpPr>
          <p:cNvPr id="15" name="Rounded Rectangle 14"/>
          <p:cNvSpPr/>
          <p:nvPr/>
        </p:nvSpPr>
        <p:spPr>
          <a:xfrm>
            <a:off x="8092440" y="960120"/>
            <a:ext cx="3547872" cy="347472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1" y="1088136"/>
            <a:ext cx="3218688" cy="3218687"/>
          </a:xfrm>
          <a:prstGeom prst="rect">
            <a:avLst/>
          </a:prstGeom>
          <a:noFill/>
        </p:spPr>
        <p:txBody>
          <a:bodyPr wrap="square">
            <a:spAutoFit/>
          </a:bodyPr>
          <a:lstStyle/>
          <a:p>
            <a:pPr>
              <a:spcAft>
                <a:spcPts val="600"/>
              </a:spcAft>
              <a:defRPr sz="1300" b="1">
                <a:solidFill>
                  <a:srgbClr val="1E3A8A"/>
                </a:solidFill>
                <a:latin typeface="Arial"/>
              </a:defRPr>
            </a:pPr>
            <a:r>
              <a:t>03 · KONFİDENSİALLIQ</a:t>
            </a:r>
          </a:p>
          <a:p>
            <a:pPr>
              <a:spcAft>
                <a:spcPts val="400"/>
              </a:spcAft>
              <a:defRPr sz="1150">
                <a:solidFill>
                  <a:srgbClr val="0F172A"/>
                </a:solidFill>
                <a:latin typeface="Arial"/>
              </a:defRPr>
            </a:pPr>
            <a:r>
              <a:t>🛡️ Məxfilik Qrifi və Arxiv:</a:t>
            </a:r>
          </a:p>
          <a:p>
            <a:pPr>
              <a:spcAft>
                <a:spcPts val="400"/>
              </a:spcAft>
              <a:defRPr sz="1150">
                <a:solidFill>
                  <a:srgbClr val="0F172A"/>
                </a:solidFill>
                <a:latin typeface="Arial"/>
              </a:defRPr>
            </a:pPr>
            <a:r>
              <a:t>Dərs vəsaitində (Məşğələ 19, Slayd 7) qeyd edilən «Məxfi / Gizli» qrifi elektron sistemdə rol əsaslı giriş hüququ (RBAC) və şifrələmə ilə qorunur.</a:t>
            </a:r>
          </a:p>
          <a:p>
            <a:pPr>
              <a:spcAft>
                <a:spcPts val="400"/>
              </a:spcAft>
              <a:defRPr sz="1150">
                <a:solidFill>
                  <a:srgbClr val="0F172A"/>
                </a:solidFill>
                <a:latin typeface="Arial"/>
              </a:defRPr>
            </a:pPr>
            <a:r>
              <a:t>Bulud serverlərdə ehtiyat nüsxə (Backup) saxlanılır.</a:t>
            </a:r>
          </a:p>
        </p:txBody>
      </p:sp>
      <p:sp>
        <p:nvSpPr>
          <p:cNvPr id="17" name="Rounded Rectangle 16"/>
          <p:cNvSpPr/>
          <p:nvPr/>
        </p:nvSpPr>
        <p:spPr>
          <a:xfrm>
            <a:off x="548640" y="4617720"/>
            <a:ext cx="11094415" cy="1463040"/>
          </a:xfrm>
          <a:prstGeom prst="roundRect">
            <a:avLst>
              <a:gd name="adj" fmla="val 3000"/>
            </a:avLst>
          </a:prstGeom>
          <a:solidFill>
            <a:srgbClr val="F0FDF4"/>
          </a:solidFill>
          <a:ln w="12700">
            <a:solidFill>
              <a:srgbClr val="1580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4745736"/>
            <a:ext cx="10765231" cy="1207008"/>
          </a:xfrm>
          <a:prstGeom prst="rect">
            <a:avLst/>
          </a:prstGeom>
          <a:noFill/>
        </p:spPr>
        <p:txBody>
          <a:bodyPr wrap="square">
            <a:spAutoFit/>
          </a:bodyPr>
          <a:lstStyle/>
          <a:p>
            <a:pPr>
              <a:spcAft>
                <a:spcPts val="600"/>
              </a:spcAft>
              <a:defRPr sz="1350" b="1">
                <a:solidFill>
                  <a:srgbClr val="15803D"/>
                </a:solidFill>
                <a:latin typeface="Arial"/>
              </a:defRPr>
            </a:pPr>
            <a:r>
              <a:t>⚙️ Rəqəmsal İmzanın Riyazi İşləmə Sxemi</a:t>
            </a:r>
          </a:p>
          <a:p>
            <a:pPr>
              <a:spcAft>
                <a:spcPts val="400"/>
              </a:spcAft>
              <a:defRPr sz="1200">
                <a:solidFill>
                  <a:srgbClr val="0F172A"/>
                </a:solidFill>
                <a:latin typeface="Arial"/>
              </a:defRPr>
            </a:pPr>
            <a:r>
              <a:t>[1. Rəsmi Sənəd Mətni (UTF-8)]   +   [2. Şəxsi Kriptoqrafik Açar (SİMA / ASAN İmza)]   =   [3. Toxunulmaz Elektron Sənəd (SHA-256: 8f4e9b2c...d71a03)]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92608"/>
            <a:ext cx="338328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1E3A8A"/>
                </a:solidFill>
                <a:latin typeface="Arial"/>
              </a:defRPr>
            </a:pPr>
            <a:r>
              <a:t>YEKUN VƏ NƏTİCƏ</a:t>
            </a:r>
          </a:p>
        </p:txBody>
      </p:sp>
      <p:sp>
        <p:nvSpPr>
          <p:cNvPr id="5" name="TextBox 4"/>
          <p:cNvSpPr txBox="1"/>
          <p:nvPr/>
        </p:nvSpPr>
        <p:spPr>
          <a:xfrm>
            <a:off x="4069080" y="292608"/>
            <a:ext cx="6583680" cy="365760"/>
          </a:xfrm>
          <a:prstGeom prst="rect">
            <a:avLst/>
          </a:prstGeom>
          <a:noFill/>
        </p:spPr>
        <p:txBody>
          <a:bodyPr wrap="none">
            <a:spAutoFit/>
          </a:bodyPr>
          <a:lstStyle/>
          <a:p>
            <a:pPr>
              <a:defRPr sz="1200" b="1">
                <a:solidFill>
                  <a:srgbClr val="475569"/>
                </a:solidFill>
                <a:latin typeface="Arial"/>
              </a:defRPr>
            </a:pPr>
            <a:r>
              <a:t>Ümumiləşdirilmiş nəticələr və mövzu üzrə yoxlama sualları</a:t>
            </a:r>
          </a:p>
        </p:txBody>
      </p:sp>
      <p:sp>
        <p:nvSpPr>
          <p:cNvPr id="6" name="Rounded Rectangle 5"/>
          <p:cNvSpPr/>
          <p:nvPr/>
        </p:nvSpPr>
        <p:spPr>
          <a:xfrm>
            <a:off x="10652760" y="292608"/>
            <a:ext cx="1005840" cy="347472"/>
          </a:xfrm>
          <a:prstGeom prst="roundRect">
            <a:avLst/>
          </a:prstGeom>
          <a:solidFill>
            <a:srgbClr val="F1F5F9"/>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F172A"/>
                </a:solidFill>
                <a:latin typeface="Consolas"/>
              </a:defRPr>
            </a:pPr>
            <a:r>
              <a:t>12 / 12</a:t>
            </a:r>
          </a:p>
        </p:txBody>
      </p:sp>
      <p:sp>
        <p:nvSpPr>
          <p:cNvPr id="7" name="Rectangle 6"/>
          <p:cNvSpPr/>
          <p:nvPr/>
        </p:nvSpPr>
        <p:spPr>
          <a:xfrm>
            <a:off x="548640" y="74980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6327648"/>
            <a:ext cx="1109441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382512"/>
            <a:ext cx="5943600" cy="320040"/>
          </a:xfrm>
          <a:prstGeom prst="rect">
            <a:avLst/>
          </a:prstGeom>
          <a:noFill/>
        </p:spPr>
        <p:txBody>
          <a:bodyPr wrap="none">
            <a:spAutoFit/>
          </a:bodyPr>
          <a:lstStyle/>
          <a:p>
            <a:pPr>
              <a:defRPr sz="950">
                <a:solidFill>
                  <a:srgbClr val="475569"/>
                </a:solidFill>
                <a:latin typeface="Arial"/>
              </a:defRPr>
            </a:pPr>
            <a:r>
              <a:t>Azərbaycan Texniki Universiteti (AzTU) · «Humanitar fənlər» kafedrası</a:t>
            </a:r>
          </a:p>
        </p:txBody>
      </p:sp>
      <p:sp>
        <p:nvSpPr>
          <p:cNvPr id="10" name="TextBox 9"/>
          <p:cNvSpPr txBox="1"/>
          <p:nvPr/>
        </p:nvSpPr>
        <p:spPr>
          <a:xfrm>
            <a:off x="6583680" y="6382512"/>
            <a:ext cx="5059375" cy="320040"/>
          </a:xfrm>
          <a:prstGeom prst="rect">
            <a:avLst/>
          </a:prstGeom>
          <a:noFill/>
        </p:spPr>
        <p:txBody>
          <a:bodyPr wrap="none">
            <a:spAutoFit/>
          </a:bodyPr>
          <a:lstStyle/>
          <a:p>
            <a:pPr algn="r">
              <a:defRPr sz="950">
                <a:solidFill>
                  <a:srgbClr val="475569"/>
                </a:solidFill>
                <a:latin typeface="Arial"/>
              </a:defRPr>
            </a:pPr>
            <a:r>
              <a:t>Mövzu №23 · Səfərli Elcan (Qrup 6326A2) · Müəllim: Nərminə İsayeva</a:t>
            </a:r>
          </a:p>
        </p:txBody>
      </p:sp>
      <p:sp>
        <p:nvSpPr>
          <p:cNvPr id="11" name="Rounded Rectangle 10"/>
          <p:cNvSpPr/>
          <p:nvPr/>
        </p:nvSpPr>
        <p:spPr>
          <a:xfrm>
            <a:off x="548640" y="960120"/>
            <a:ext cx="5577840" cy="5166360"/>
          </a:xfrm>
          <a:prstGeom prst="roundRect">
            <a:avLst>
              <a:gd name="adj" fmla="val 3000"/>
            </a:avLst>
          </a:prstGeom>
          <a:solidFill>
            <a:srgbClr val="F8FAFC"/>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1088136"/>
            <a:ext cx="5248655" cy="4910328"/>
          </a:xfrm>
          <a:prstGeom prst="rect">
            <a:avLst/>
          </a:prstGeom>
          <a:noFill/>
        </p:spPr>
        <p:txBody>
          <a:bodyPr wrap="square">
            <a:spAutoFit/>
          </a:bodyPr>
          <a:lstStyle/>
          <a:p>
            <a:pPr>
              <a:spcAft>
                <a:spcPts val="600"/>
              </a:spcAft>
              <a:defRPr sz="1300" b="1">
                <a:solidFill>
                  <a:srgbClr val="1E3A8A"/>
                </a:solidFill>
                <a:latin typeface="Arial"/>
              </a:defRPr>
            </a:pPr>
            <a:r>
              <a:t>📌 Əsas Nəticələr (Xülasə)</a:t>
            </a:r>
          </a:p>
          <a:p>
            <a:pPr>
              <a:spcAft>
                <a:spcPts val="400"/>
              </a:spcAft>
              <a:defRPr sz="1150">
                <a:solidFill>
                  <a:srgbClr val="0F172A"/>
                </a:solidFill>
                <a:latin typeface="Arial"/>
              </a:defRPr>
            </a:pPr>
            <a:r>
              <a:t>1. İdarəetmədə Çeviklik: Elektron sənəd dövriyyəsi (ESD) təşkilati, inzibati və istinad sənədlərinin hazırlanması və icrası vaxtını günlərdən saniyələrə endirir.</a:t>
            </a:r>
          </a:p>
          <a:p>
            <a:pPr>
              <a:spcAft>
                <a:spcPts val="400"/>
              </a:spcAft>
              <a:defRPr sz="1150">
                <a:solidFill>
                  <a:srgbClr val="0F172A"/>
                </a:solidFill>
                <a:latin typeface="Arial"/>
              </a:defRPr>
            </a:pPr>
          </a:p>
          <a:p>
            <a:pPr>
              <a:spcAft>
                <a:spcPts val="400"/>
              </a:spcAft>
              <a:defRPr sz="1150">
                <a:solidFill>
                  <a:srgbClr val="0F172A"/>
                </a:solidFill>
                <a:latin typeface="Arial"/>
              </a:defRPr>
            </a:pPr>
            <a:r>
              <a:t>2. Dil və Forma Vəhdəti: Rəqəmsal mühitdə də rəsmi-işgüzar üslubun tələbləri (ciddi forma, 7 məcburi rekvizit, dəstəkləyici sözlər və 5 təsnifat qaydası) dəyişməz qalır.</a:t>
            </a:r>
          </a:p>
          <a:p>
            <a:pPr>
              <a:spcAft>
                <a:spcPts val="400"/>
              </a:spcAft>
              <a:defRPr sz="1150">
                <a:solidFill>
                  <a:srgbClr val="0F172A"/>
                </a:solidFill>
                <a:latin typeface="Arial"/>
              </a:defRPr>
            </a:pPr>
          </a:p>
          <a:p>
            <a:pPr>
              <a:spcAft>
                <a:spcPts val="400"/>
              </a:spcAft>
              <a:defRPr sz="1150">
                <a:solidFill>
                  <a:srgbClr val="0F172A"/>
                </a:solidFill>
                <a:latin typeface="Arial"/>
              </a:defRPr>
            </a:pPr>
            <a:r>
              <a:t>3. Hüquqi Etibarlılıq: «Elektron imza və elektron sənəd haqqında» AR Qanununa əsasən ASAN İmza və SİMA ilə imzalanmış sənəd tam hüquqi qüvvəyə malikdir.</a:t>
            </a:r>
          </a:p>
          <a:p>
            <a:pPr>
              <a:spcAft>
                <a:spcPts val="400"/>
              </a:spcAft>
              <a:defRPr sz="1150">
                <a:solidFill>
                  <a:srgbClr val="0F172A"/>
                </a:solidFill>
                <a:latin typeface="Arial"/>
              </a:defRPr>
            </a:pPr>
          </a:p>
          <a:p>
            <a:pPr>
              <a:spcAft>
                <a:spcPts val="400"/>
              </a:spcAft>
              <a:defRPr sz="1150">
                <a:solidFill>
                  <a:srgbClr val="0F172A"/>
                </a:solidFill>
                <a:latin typeface="Arial"/>
              </a:defRPr>
            </a:pPr>
            <a:r>
              <a:t>4. İcra İntizamı: 5 mərhələli elektron iş axını və 2 günlük e-poçt cavab standartı etibarlı tərəfdaş nüfuzunun təminatıdır.</a:t>
            </a:r>
          </a:p>
        </p:txBody>
      </p:sp>
      <p:sp>
        <p:nvSpPr>
          <p:cNvPr id="13" name="Rounded Rectangle 12"/>
          <p:cNvSpPr/>
          <p:nvPr/>
        </p:nvSpPr>
        <p:spPr>
          <a:xfrm>
            <a:off x="6355080" y="960120"/>
            <a:ext cx="5285232" cy="3566160"/>
          </a:xfrm>
          <a:prstGeom prst="roundRect">
            <a:avLst>
              <a:gd name="adj" fmla="val 3000"/>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19672" y="1088136"/>
            <a:ext cx="4956048" cy="3310128"/>
          </a:xfrm>
          <a:prstGeom prst="rect">
            <a:avLst/>
          </a:prstGeom>
          <a:noFill/>
        </p:spPr>
        <p:txBody>
          <a:bodyPr wrap="square">
            <a:spAutoFit/>
          </a:bodyPr>
          <a:lstStyle/>
          <a:p>
            <a:pPr>
              <a:spcAft>
                <a:spcPts val="600"/>
              </a:spcAft>
              <a:defRPr sz="1270" b="1">
                <a:solidFill>
                  <a:srgbClr val="1E3A8A"/>
                </a:solidFill>
                <a:latin typeface="Arial"/>
              </a:defRPr>
            </a:pPr>
            <a:r>
              <a:t>❓ Mövzu Üzrə Yoxlama Sualları (Məşğələ 14 &amp; 19)</a:t>
            </a:r>
          </a:p>
          <a:p>
            <a:pPr>
              <a:spcAft>
                <a:spcPts val="400"/>
              </a:spcAft>
              <a:defRPr sz="1120">
                <a:solidFill>
                  <a:srgbClr val="0F172A"/>
                </a:solidFill>
                <a:latin typeface="Arial"/>
              </a:defRPr>
            </a:pPr>
            <a:r>
              <a:t>1. Elektron sənəd dövriyyəsində hansı təşkilati, inzibati və analitik sənədlər icra olunur?</a:t>
            </a:r>
          </a:p>
          <a:p>
            <a:pPr>
              <a:spcAft>
                <a:spcPts val="400"/>
              </a:spcAft>
              <a:defRPr sz="1120">
                <a:solidFill>
                  <a:srgbClr val="0F172A"/>
                </a:solidFill>
                <a:latin typeface="Arial"/>
              </a:defRPr>
            </a:pPr>
            <a:r>
              <a:t>2. Xidməti sənədin tələb olunan 7 məcburi elementi (rekviziti) hansılardır?</a:t>
            </a:r>
          </a:p>
          <a:p>
            <a:pPr>
              <a:spcAft>
                <a:spcPts val="400"/>
              </a:spcAft>
              <a:defRPr sz="1120">
                <a:solidFill>
                  <a:srgbClr val="0F172A"/>
                </a:solidFill>
                <a:latin typeface="Arial"/>
              </a:defRPr>
            </a:pPr>
            <a:r>
              <a:t>3. Mətni bölmələrə ayırarkən hansı 5 qaydaya əməl edilməlidir?</a:t>
            </a:r>
          </a:p>
          <a:p>
            <a:pPr>
              <a:spcAft>
                <a:spcPts val="400"/>
              </a:spcAft>
              <a:defRPr sz="1120">
                <a:solidFill>
                  <a:srgbClr val="0F172A"/>
                </a:solidFill>
                <a:latin typeface="Arial"/>
              </a:defRPr>
            </a:pPr>
            <a:r>
              <a:t>4. Fərman, Qərar və Sərəncamı fərqləndirən əsas cəhət nədir?</a:t>
            </a:r>
          </a:p>
          <a:p>
            <a:pPr>
              <a:spcAft>
                <a:spcPts val="400"/>
              </a:spcAft>
              <a:defRPr sz="1120">
                <a:solidFill>
                  <a:srgbClr val="0F172A"/>
                </a:solidFill>
                <a:latin typeface="Arial"/>
              </a:defRPr>
            </a:pPr>
            <a:r>
              <a:t>5. Korporativ e-poçt ölçüsü, elektron imza bloku (5–6 sətir / 70 işarə) və cavab müddəti (2 gün) necə tənzimlənir?</a:t>
            </a:r>
          </a:p>
        </p:txBody>
      </p:sp>
      <p:sp>
        <p:nvSpPr>
          <p:cNvPr id="15" name="Rounded Rectangle 14"/>
          <p:cNvSpPr/>
          <p:nvPr/>
        </p:nvSpPr>
        <p:spPr>
          <a:xfrm>
            <a:off x="6355080" y="4709160"/>
            <a:ext cx="5285232" cy="1417320"/>
          </a:xfrm>
          <a:prstGeom prst="roundRect">
            <a:avLst>
              <a:gd name="adj" fmla="val 3000"/>
            </a:avLst>
          </a:prstGeom>
          <a:solidFill>
            <a:srgbClr val="F8FAFC"/>
          </a:solidFill>
          <a:ln w="127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4837176"/>
            <a:ext cx="4956048" cy="1161288"/>
          </a:xfrm>
          <a:prstGeom prst="rect">
            <a:avLst/>
          </a:prstGeom>
          <a:noFill/>
        </p:spPr>
        <p:txBody>
          <a:bodyPr wrap="square">
            <a:spAutoFit/>
          </a:bodyPr>
          <a:lstStyle/>
          <a:p>
            <a:pPr>
              <a:spcAft>
                <a:spcPts val="600"/>
              </a:spcAft>
              <a:defRPr sz="1350" b="1">
                <a:solidFill>
                  <a:srgbClr val="1E3A8A"/>
                </a:solidFill>
                <a:latin typeface="Arial"/>
              </a:defRPr>
            </a:pPr>
            <a:r>
              <a:t>DİQQƏTİNİZƏ GÖRƏ TƏŞƏKKÜR EDİRƏM!</a:t>
            </a:r>
          </a:p>
          <a:p>
            <a:pPr>
              <a:spcAft>
                <a:spcPts val="400"/>
              </a:spcAft>
              <a:defRPr sz="1200">
                <a:solidFill>
                  <a:srgbClr val="0F172A"/>
                </a:solidFill>
                <a:latin typeface="Arial"/>
              </a:defRPr>
            </a:pPr>
            <a:r>
              <a:t>Səfərli Elcan · Qrup 6326A2 · Azərbaycan Texniki Universiteti (2026)</a:t>
            </a:r>
          </a:p>
          <a:p>
            <a:pPr>
              <a:spcAft>
                <a:spcPts val="400"/>
              </a:spcAft>
              <a:defRPr sz="1200">
                <a:solidFill>
                  <a:srgbClr val="0F172A"/>
                </a:solidFill>
                <a:latin typeface="Arial"/>
              </a:defRPr>
            </a:pPr>
            <a:r>
              <a:t>Fənn müəllimi: Müəl. Nərminə İsayeva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